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00:00–00:25 — Opening with a universal problem.
“Quick question: have you ever corrected an AI assistant, only for it to reuse an old preference or fact later? And a second question: what if that assistant wasn't just writing text, but scheduling a meeting, checking a technical specification or making a recommendation?
“The risk isn't restricted to company chatbots. Any AI agent or workflow that depends on changing information can be wrong in a very confident way. RegWatch is designed to test that risk.”
Pause briefly after the first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00:25–01:10 — Real evidence.
“In 2024, an Air Canada customer relied on a chatbot that incorrectly described the airline's bereavement-fare policy. A tribunal awarded C$650.88 in damages. This case is important because a confident AI answer had a real consequence—and the airline was accountable.
“To be precise, that case does not establish that outdated memory caused the error. That's the more specific failure mode we're testing. The wider concern is real: KPMG surveyed 40 UK board members in 2024, and 60 percent cited inaccurate generative-AI results as a concern.
“What happens when an AI assistant or agent uses information that was once correct but has since changed?”
Sources: American Bar Association summary of Moffatt v Air Canada; KPMG UK board survey, August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01:10–01:45 — Broad framing with four fictional scenarios.
“This is not just an airline or finance problem. Imagine a personal AI travel assistant remembering an old travel date; a hiring agent scheduling around outdated availability; an engineering copilot referring to a superseded requirement; or a support chatbot applying an old refund policy.
“The consequences differ, but the failure pattern is the same: an AI system uses outdated context in a new answer or action. We don't claim all these systems fail in practice. They are examples of situations RegWatch can be adapted to test when an authorised history and a verified answer key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01:45–02:20 — What the product does.
“RegWatch is not another chatbot. Think of it as a safety exam for any AI system that relies on memory or retrieved context. We replay controlled histories with old facts and later updates. Our harness generates targeted questions and stores independently verified expected answers. We then ask the AI, check what it says, and flag failures with inspectable evidence where available.
“Our working prototype is a Python evaluation harness with a browser dashboard. This is an evaluation product today, not an automatic repair tool, and it cannot look inside private memories belonging to unrelated AI products without an authorised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02:20–04:00 — Demo for 90–100 seconds.
“Now imagine you're an engineer deciding whether an assistant or agent can be trusted to remember updates. Our current demonstration uses a synthetic client whose risk preference changed. That is only one test scenario: the same harness can test a company's policy, a scheduling assistant or a technical requirement with suitable approved test data.
“Here's the old fact, the later correction, and the probe question. Now we compare the actual answers from the memory implementations we have working. Here is what the independent answer key says. Let me open one real failed test and show the retrieved context when it is available.
“From this, developers have evidence to review or adjust the memory approach and retest.”
If replaying saved actual outputs say “recorded results”; if synthetic fixtures, say “illustrative UI”. Never promise unavailable integrations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04:00–04:45 — Explain the before and after.
“Without a check, a wrong answer can sound sensible. And if the AI is an agent, that mistake can turn into an action—booking the wrong time, drafting from an obsolete policy or following an old specification.
“RegWatch lets the team reproduce the situation, see the failure against the correct dated fact, inspect the evidence and retest after making a change. That is the before-and-after: from an invisible memory risk to measurable evidence and a human decision.
“The current prototype identifies problems and supports investigation. Automated repair, deployment blocking and intelligent recommendations are a roadmap, not capabilities we claim to have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04:45–05:20 — Trade-off.
“AI developers often shorten context or summarise memory to lower costs. But removing important updates can turn a cheap response into a costly mistake. We're adding token use, latency and answer-cost comparison alongside correctness.
“This is valuable for any AI workflow, not only chatbots. We are measuring a trade-off rather than building a brand new compression system. And if a memory provider makes unobserved ingestion calls, we only report the costs we can observe and label that scope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05:20–06:10 — Governance and users.
“Our direct users today are the engineers who build AI systems and the teams who have to assure them before release. Think software developers, systems engineers and compliance reviewers. But the people affected are much broader: employees, customers and individuals who rely on AI-generated responses or actions.
“Later this could also be useful directly for an individual who wants to test their own agent, using their own approved conversation history and reference facts. That personal integration isn't built yet.
“Governance and Compliance is our main track: repeatable testing, independent expectations, logged evidence, and accountable human review. Explainability and Transparency is the supporting track: where possible, we reveal which context reached the model and why an answer failed. We do not claim RegWatch certifies safety or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06:10–06:50 — Roadmap and close.
“Today RegWatch is a working prototype built around controlled synthetic histories, test questions and a results interface. The first scale-up is for developers: connect an authorised AI application by API, ship RegWatch as a Python package or CI test, and rerun memory checks when prompts, retrieval logic or policies change.
“The longer-term vision is broader still: individuals could use an opt-in agent skill or app to check their own assistants using information they choose to share. Neither of those integrations exists in today's prototype, and we cannot access a private AI's hidden memory automatically.
“Whether the user is a systems engineer or an individual relying on an agent, the goal is the same: test AI memory before decisions depend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Air Canada case is misadvice, not established outdated-memory retrieval. Broad personal, HR and engineering examples are hypothetical. The working prototype performs controlled tests and measures accessible evidence, not universal agent monitoring or automatic repair. Personal and enterprise plug-ins are future product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hyperlink" Target="https://kpmg.com/uk/en/media/press-releases/2024/08/leaders-recognise-gen-ai-risks.htm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Ezennn/synoptix-hackathon"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hyperlink" Target="https://kpmg.com/uk/en/media/press-releases/2024/08/leaders-recognise-gen-ai-risks.html" TargetMode="External"/><Relationship Id="rId3" Type="http://schemas.openxmlformats.org/officeDocument/2006/relationships/hyperlink" Target="https://ai-act-service-desk.ec.europa.eu/en/ai-act/article-12" TargetMode="External"/><Relationship Id="rId4" Type="http://schemas.openxmlformats.org/officeDocument/2006/relationships/hyperlink" Target="https://github.com/Ezennn/synoptix-hackathon" TargetMode="External"/><Relationship Id="rId5" Type="http://schemas.openxmlformats.org/officeDocument/2006/relationships/slideLayout" Target="../slideLayouts/slideLayout1.xml"/><Relationship Id="rId6" Type="http://schemas.openxmlformats.org/officeDocument/2006/relationships/notesSlide" Target="../notesSlides/notesSlide10.xml"/><Relationship Id="rId7" Type="http://schemas.openxmlformats.org/officeDocument/2006/relationships/hyperlink" Target="https://www.sec.gov/Archives/edgar/data/1617640/000161764021000085/q32021991.htm" TargetMode="External"/><Relationship Id="rId8" Type="http://schemas.openxmlformats.org/officeDocument/2006/relationships/hyperlink" Target="https://themarkup.org/news/2024/04/02/malfunctioning-nyc-ai-chatbot-still-active-despite-widespread-evidence-its-encouraging-illegal-behavi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SYNOPTIX 2026  /  RESPONSIBLE AI  /  REGWATCH</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01</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Shape 4"/>
          <p:cNvSpPr/>
          <p:nvPr/>
        </p:nvSpPr>
        <p:spPr>
          <a:xfrm>
            <a:off x="576072" y="969264"/>
            <a:ext cx="3236976" cy="347472"/>
          </a:xfrm>
          <a:prstGeom prst="roundRect">
            <a:avLst>
              <a:gd name="adj" fmla="val 42105"/>
            </a:avLst>
          </a:prstGeom>
          <a:solidFill>
            <a:srgbClr val="19273A"/>
          </a:solidFill>
          <a:ln w="10160">
            <a:solidFill>
              <a:srgbClr val="2C4058"/>
            </a:solidFill>
            <a:prstDash val="solid"/>
          </a:ln>
        </p:spPr>
      </p:sp>
      <p:sp>
        <p:nvSpPr>
          <p:cNvPr id="7" name="Text 5"/>
          <p:cNvSpPr/>
          <p:nvPr/>
        </p:nvSpPr>
        <p:spPr>
          <a:xfrm>
            <a:off x="694944" y="1042416"/>
            <a:ext cx="3008376"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TWO QUESTIONS FOR THE ROOM</a:t>
            </a:r>
            <a:endParaRPr lang="en-US" sz="1020" dirty="0"/>
          </a:p>
        </p:txBody>
      </p:sp>
      <p:sp>
        <p:nvSpPr>
          <p:cNvPr id="8" name="Text 6"/>
          <p:cNvSpPr/>
          <p:nvPr/>
        </p:nvSpPr>
        <p:spPr>
          <a:xfrm>
            <a:off x="576072" y="1572768"/>
            <a:ext cx="10835640" cy="877824"/>
          </a:xfrm>
          <a:prstGeom prst="rect">
            <a:avLst/>
          </a:prstGeom>
          <a:noFill/>
          <a:ln/>
        </p:spPr>
        <p:txBody>
          <a:bodyPr wrap="square" lIns="0" tIns="0" rIns="0" bIns="0" rtlCol="0" anchor="ctr">
            <a:normAutofit/>
          </a:bodyPr>
          <a:lstStyle/>
          <a:p>
            <a:pPr indent="0" marL="0">
              <a:buNone/>
            </a:pPr>
            <a:r>
              <a:rPr lang="en-US" sz="4800" b="1" dirty="0">
                <a:solidFill>
                  <a:srgbClr val="F5F8FC"/>
                </a:solidFill>
                <a:latin typeface="Aptos Display" pitchFamily="34" charset="0"/>
                <a:ea typeface="Aptos Display" pitchFamily="34" charset="-122"/>
                <a:cs typeface="Aptos Display" pitchFamily="34" charset="-120"/>
              </a:rPr>
              <a:t>Your AI remembers.</a:t>
            </a:r>
            <a:endParaRPr lang="en-US" sz="4800" dirty="0"/>
          </a:p>
        </p:txBody>
      </p:sp>
      <p:sp>
        <p:nvSpPr>
          <p:cNvPr id="9" name="Text 7"/>
          <p:cNvSpPr/>
          <p:nvPr/>
        </p:nvSpPr>
        <p:spPr>
          <a:xfrm>
            <a:off x="576072" y="2432304"/>
            <a:ext cx="10835640" cy="932688"/>
          </a:xfrm>
          <a:prstGeom prst="rect">
            <a:avLst/>
          </a:prstGeom>
          <a:noFill/>
          <a:ln/>
        </p:spPr>
        <p:txBody>
          <a:bodyPr wrap="square" lIns="0" tIns="0" rIns="0" bIns="0" rtlCol="0" anchor="ctr">
            <a:normAutofit/>
          </a:bodyPr>
          <a:lstStyle/>
          <a:p>
            <a:pPr indent="0" marL="0">
              <a:buNone/>
            </a:pPr>
            <a:r>
              <a:rPr lang="en-US" sz="5500" b="1" dirty="0">
                <a:solidFill>
                  <a:srgbClr val="51E1C2"/>
                </a:solidFill>
                <a:latin typeface="Aptos Display" pitchFamily="34" charset="0"/>
                <a:ea typeface="Aptos Display" pitchFamily="34" charset="-122"/>
                <a:cs typeface="Aptos Display" pitchFamily="34" charset="-120"/>
              </a:rPr>
              <a:t>But is it right?</a:t>
            </a:r>
            <a:endParaRPr lang="en-US" sz="5500" dirty="0"/>
          </a:p>
        </p:txBody>
      </p:sp>
      <p:sp>
        <p:nvSpPr>
          <p:cNvPr id="10" name="Shape 8"/>
          <p:cNvSpPr/>
          <p:nvPr/>
        </p:nvSpPr>
        <p:spPr>
          <a:xfrm>
            <a:off x="576072" y="3803904"/>
            <a:ext cx="11027664" cy="1490472"/>
          </a:xfrm>
          <a:prstGeom prst="roundRect">
            <a:avLst>
              <a:gd name="adj" fmla="val 9816"/>
            </a:avLst>
          </a:prstGeom>
          <a:solidFill>
            <a:srgbClr val="121E30"/>
          </a:solidFill>
          <a:ln w="10160">
            <a:solidFill>
              <a:srgbClr val="2C4058"/>
            </a:solidFill>
            <a:prstDash val="solid"/>
          </a:ln>
        </p:spPr>
      </p:sp>
      <p:sp>
        <p:nvSpPr>
          <p:cNvPr id="11" name="Text 9"/>
          <p:cNvSpPr/>
          <p:nvPr/>
        </p:nvSpPr>
        <p:spPr>
          <a:xfrm>
            <a:off x="868680" y="4050792"/>
            <a:ext cx="10314432" cy="438912"/>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Have you ever corrected an AI—then seen it use the old fact again?</a:t>
            </a:r>
            <a:endParaRPr lang="en-US" sz="2100" dirty="0"/>
          </a:p>
        </p:txBody>
      </p:sp>
      <p:sp>
        <p:nvSpPr>
          <p:cNvPr id="12" name="Text 10"/>
          <p:cNvSpPr/>
          <p:nvPr/>
        </p:nvSpPr>
        <p:spPr>
          <a:xfrm>
            <a:off x="868680" y="4654296"/>
            <a:ext cx="10204704" cy="365760"/>
          </a:xfrm>
          <a:prstGeom prst="rect">
            <a:avLst/>
          </a:prstGeom>
          <a:noFill/>
          <a:ln/>
        </p:spPr>
        <p:txBody>
          <a:bodyPr wrap="square" lIns="0" tIns="0" rIns="0" bIns="0" rtlCol="0" anchor="ctr">
            <a:normAutofit/>
          </a:bodyPr>
          <a:lstStyle/>
          <a:p>
            <a:pPr indent="0" marL="0">
              <a:buNone/>
            </a:pPr>
            <a:r>
              <a:rPr lang="en-US" sz="2000" dirty="0">
                <a:solidFill>
                  <a:srgbClr val="A2B4C9"/>
                </a:solidFill>
                <a:latin typeface="Aptos" pitchFamily="34" charset="0"/>
                <a:ea typeface="Aptos" pitchFamily="34" charset="-122"/>
                <a:cs typeface="Aptos" pitchFamily="34" charset="-120"/>
              </a:rPr>
              <a:t>What if that AI could act on the mistake?</a:t>
            </a:r>
            <a:endParaRPr lang="en-US" sz="2000" dirty="0"/>
          </a:p>
        </p:txBody>
      </p:sp>
      <p:sp>
        <p:nvSpPr>
          <p:cNvPr id="13" name="Shape 11"/>
          <p:cNvSpPr/>
          <p:nvPr/>
        </p:nvSpPr>
        <p:spPr>
          <a:xfrm>
            <a:off x="594360" y="5641848"/>
            <a:ext cx="8823960" cy="347472"/>
          </a:xfrm>
          <a:prstGeom prst="roundRect">
            <a:avLst>
              <a:gd name="adj" fmla="val 42105"/>
            </a:avLst>
          </a:prstGeom>
          <a:solidFill>
            <a:srgbClr val="19273A"/>
          </a:solidFill>
          <a:ln w="10160">
            <a:solidFill>
              <a:srgbClr val="2C4058"/>
            </a:solidFill>
            <a:prstDash val="solid"/>
          </a:ln>
        </p:spPr>
      </p:sp>
      <p:sp>
        <p:nvSpPr>
          <p:cNvPr id="14" name="Text 12"/>
          <p:cNvSpPr/>
          <p:nvPr/>
        </p:nvSpPr>
        <p:spPr>
          <a:xfrm>
            <a:off x="713232" y="5715000"/>
            <a:ext cx="8595360"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RegWatch  •  Memory assurance for AI agents, assistants and workflows</a:t>
            </a:r>
            <a:endParaRPr lang="en-US" sz="10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02</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Confident AI answers can have real consequences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Three documented failures — a liability precedent, a priced-in loss, and a system left running.</a:t>
            </a:r>
          </a:p>
        </p:txBody>
      </p:sp>
      <p:sp>
        <p:nvSpPr>
          <p:cNvPr id="8" name="Rounded Rectangle 7"/>
          <p:cNvSpPr/>
          <p:nvPr/>
        </p:nvSpPr>
        <p:spPr>
          <a:xfrm>
            <a:off x="576072"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13816"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203704"/>
            <a:ext cx="2834640" cy="182880"/>
          </a:xfrm>
          <a:prstGeom prst="rect">
            <a:avLst/>
          </a:prstGeom>
          <a:noFill/>
        </p:spPr>
        <p:txBody>
          <a:bodyPr wrap="square" lIns="0" rIns="0" tIns="0" bIns="0" anchor="t">
            <a:spAutoFit/>
          </a:bodyPr>
          <a:lstStyle/>
          <a:p>
            <a:r>
              <a:rPr sz="900" b="1" spc="65">
                <a:solidFill>
                  <a:srgbClr val="FFB864"/>
                </a:solidFill>
                <a:latin typeface="Aptos"/>
              </a:rPr>
              <a:t>LEGAL PRECEDENT  •  AIR CANADA, 2024</a:t>
            </a:r>
          </a:p>
        </p:txBody>
      </p:sp>
      <p:sp>
        <p:nvSpPr>
          <p:cNvPr id="11" name="TextBox 10"/>
          <p:cNvSpPr txBox="1"/>
          <p:nvPr/>
        </p:nvSpPr>
        <p:spPr>
          <a:xfrm>
            <a:off x="832104" y="2651760"/>
            <a:ext cx="3017520" cy="566928"/>
          </a:xfrm>
          <a:prstGeom prst="rect">
            <a:avLst/>
          </a:prstGeom>
          <a:noFill/>
        </p:spPr>
        <p:txBody>
          <a:bodyPr wrap="square" lIns="0" rIns="0" tIns="0" bIns="0" anchor="t">
            <a:spAutoFit/>
          </a:bodyPr>
          <a:lstStyle/>
          <a:p>
            <a:r>
              <a:rPr sz="3400" b="1">
                <a:solidFill>
                  <a:srgbClr val="FFB864"/>
                </a:solidFill>
                <a:latin typeface="Aptos Display"/>
              </a:rPr>
              <a:t>Liable</a:t>
            </a:r>
          </a:p>
        </p:txBody>
      </p:sp>
      <p:sp>
        <p:nvSpPr>
          <p:cNvPr id="12" name="TextBox 11"/>
          <p:cNvSpPr txBox="1"/>
          <p:nvPr/>
        </p:nvSpPr>
        <p:spPr>
          <a:xfrm>
            <a:off x="832104"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The airline argued its chatbot was a "separate legal entity" answering for itself. The tribunal called that remarkable and rejected it.</a:t>
            </a:r>
          </a:p>
        </p:txBody>
      </p:sp>
      <p:sp>
        <p:nvSpPr>
          <p:cNvPr id="13" name="Rectangle 12"/>
          <p:cNvSpPr/>
          <p:nvPr/>
        </p:nvSpPr>
        <p:spPr>
          <a:xfrm>
            <a:off x="832104"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What your assistant says is what your company said.</a:t>
            </a:r>
          </a:p>
        </p:txBody>
      </p:sp>
      <p:sp>
        <p:nvSpPr>
          <p:cNvPr id="15" name="TextBox 14"/>
          <p:cNvSpPr txBox="1"/>
          <p:nvPr/>
        </p:nvSpPr>
        <p:spPr>
          <a:xfrm>
            <a:off x="832104" y="5468112"/>
            <a:ext cx="3017520" cy="182880"/>
          </a:xfrm>
          <a:prstGeom prst="rect">
            <a:avLst/>
          </a:prstGeom>
          <a:noFill/>
        </p:spPr>
        <p:txBody>
          <a:bodyPr wrap="square" lIns="0" rIns="0" tIns="0" bIns="0" anchor="t">
            <a:spAutoFit/>
          </a:bodyPr>
          <a:lstStyle/>
          <a:p>
            <a:r>
              <a:rPr sz="860" b="0">
                <a:solidFill>
                  <a:srgbClr val="71849C"/>
                </a:solidFill>
                <a:latin typeface="Aptos"/>
              </a:rPr>
              <a:t>Moffatt v. Air Canada, 2024 BCCRT 149</a:t>
            </a:r>
          </a:p>
        </p:txBody>
      </p:sp>
      <p:sp>
        <p:nvSpPr>
          <p:cNvPr id="16" name="Rounded Rectangle 15"/>
          <p:cNvSpPr/>
          <p:nvPr/>
        </p:nvSpPr>
        <p:spPr>
          <a:xfrm>
            <a:off x="4251960"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489704"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08576" y="2203704"/>
            <a:ext cx="2834640" cy="182880"/>
          </a:xfrm>
          <a:prstGeom prst="rect">
            <a:avLst/>
          </a:prstGeom>
          <a:noFill/>
        </p:spPr>
        <p:txBody>
          <a:bodyPr wrap="square" lIns="0" rIns="0" tIns="0" bIns="0" anchor="t">
            <a:spAutoFit/>
          </a:bodyPr>
          <a:lstStyle/>
          <a:p>
            <a:r>
              <a:rPr sz="900" b="1" spc="65">
                <a:solidFill>
                  <a:srgbClr val="FFB864"/>
                </a:solidFill>
                <a:latin typeface="Aptos"/>
              </a:rPr>
              <a:t>PRICED-IN LOSS  •  ZILLOW, 2021</a:t>
            </a:r>
          </a:p>
        </p:txBody>
      </p:sp>
      <p:sp>
        <p:nvSpPr>
          <p:cNvPr id="19" name="TextBox 18"/>
          <p:cNvSpPr txBox="1"/>
          <p:nvPr/>
        </p:nvSpPr>
        <p:spPr>
          <a:xfrm>
            <a:off x="4507992" y="2651760"/>
            <a:ext cx="3017520" cy="566928"/>
          </a:xfrm>
          <a:prstGeom prst="rect">
            <a:avLst/>
          </a:prstGeom>
          <a:noFill/>
        </p:spPr>
        <p:txBody>
          <a:bodyPr wrap="square" lIns="0" rIns="0" tIns="0" bIns="0" anchor="t">
            <a:spAutoFit/>
          </a:bodyPr>
          <a:lstStyle/>
          <a:p>
            <a:r>
              <a:rPr sz="3400" b="1">
                <a:solidFill>
                  <a:srgbClr val="FFB864"/>
                </a:solidFill>
                <a:latin typeface="Aptos Display"/>
              </a:rPr>
              <a:t>$304M</a:t>
            </a:r>
          </a:p>
        </p:txBody>
      </p:sp>
      <p:sp>
        <p:nvSpPr>
          <p:cNvPr id="20" name="TextBox 19"/>
          <p:cNvSpPr txBox="1"/>
          <p:nvPr/>
        </p:nvSpPr>
        <p:spPr>
          <a:xfrm>
            <a:off x="4507992"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Written off its home inventory in one quarter, after the pricing model’s view of the market fell behind the market. Zillow guided to a further $240–265M and wound the business down.</a:t>
            </a:r>
          </a:p>
        </p:txBody>
      </p:sp>
      <p:sp>
        <p:nvSpPr>
          <p:cNvPr id="21" name="Rectangle 20"/>
          <p:cNvSpPr/>
          <p:nvPr/>
        </p:nvSpPr>
        <p:spPr>
          <a:xfrm>
            <a:off x="4507992"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7992"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A stale view of the world, priced at scale.</a:t>
            </a:r>
          </a:p>
        </p:txBody>
      </p:sp>
      <p:sp>
        <p:nvSpPr>
          <p:cNvPr id="23" name="TextBox 22"/>
          <p:cNvSpPr txBox="1"/>
          <p:nvPr/>
        </p:nvSpPr>
        <p:spPr>
          <a:xfrm>
            <a:off x="4507992" y="5468112"/>
            <a:ext cx="3017520" cy="182880"/>
          </a:xfrm>
          <a:prstGeom prst="rect">
            <a:avLst/>
          </a:prstGeom>
          <a:noFill/>
        </p:spPr>
        <p:txBody>
          <a:bodyPr wrap="square" lIns="0" rIns="0" tIns="0" bIns="0" anchor="t">
            <a:spAutoFit/>
          </a:bodyPr>
          <a:lstStyle/>
          <a:p>
            <a:r>
              <a:rPr sz="860" b="0">
                <a:solidFill>
                  <a:srgbClr val="71849C"/>
                </a:solidFill>
                <a:latin typeface="Aptos"/>
              </a:rPr>
              <a:t>Zillow Group Q3 2021, Form 8-K  •  ~25% of staff cut</a:t>
            </a:r>
          </a:p>
        </p:txBody>
      </p:sp>
      <p:sp>
        <p:nvSpPr>
          <p:cNvPr id="24" name="Rounded Rectangle 23"/>
          <p:cNvSpPr/>
          <p:nvPr/>
        </p:nvSpPr>
        <p:spPr>
          <a:xfrm>
            <a:off x="7927848"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165592"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84464" y="2203704"/>
            <a:ext cx="2834640" cy="182880"/>
          </a:xfrm>
          <a:prstGeom prst="rect">
            <a:avLst/>
          </a:prstGeom>
          <a:noFill/>
        </p:spPr>
        <p:txBody>
          <a:bodyPr wrap="square" lIns="0" rIns="0" tIns="0" bIns="0" anchor="t">
            <a:spAutoFit/>
          </a:bodyPr>
          <a:lstStyle/>
          <a:p>
            <a:r>
              <a:rPr sz="900" b="1" spc="65">
                <a:solidFill>
                  <a:srgbClr val="51E1C2"/>
                </a:solidFill>
                <a:latin typeface="Aptos"/>
              </a:rPr>
              <a:t>NO GATE  •  NYC MyCITY, 2024</a:t>
            </a:r>
          </a:p>
        </p:txBody>
      </p:sp>
      <p:sp>
        <p:nvSpPr>
          <p:cNvPr id="27" name="TextBox 26"/>
          <p:cNvSpPr txBox="1"/>
          <p:nvPr/>
        </p:nvSpPr>
        <p:spPr>
          <a:xfrm>
            <a:off x="8183879" y="2651760"/>
            <a:ext cx="3017520" cy="566928"/>
          </a:xfrm>
          <a:prstGeom prst="rect">
            <a:avLst/>
          </a:prstGeom>
          <a:noFill/>
        </p:spPr>
        <p:txBody>
          <a:bodyPr wrap="square" lIns="0" rIns="0" tIns="0" bIns="0" anchor="t">
            <a:spAutoFit/>
          </a:bodyPr>
          <a:lstStyle/>
          <a:p>
            <a:r>
              <a:rPr sz="3400" b="1">
                <a:solidFill>
                  <a:srgbClr val="51E1C2"/>
                </a:solidFill>
                <a:latin typeface="Aptos Display"/>
              </a:rPr>
              <a:t>Left live</a:t>
            </a:r>
          </a:p>
        </p:txBody>
      </p:sp>
      <p:sp>
        <p:nvSpPr>
          <p:cNvPr id="28" name="TextBox 27"/>
          <p:cNvSpPr txBox="1"/>
          <p:nvPr/>
        </p:nvSpPr>
        <p:spPr>
          <a:xfrm>
            <a:off x="8183879"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A city chatbot told business owners they could take workers’ tips and refuse tenants on rental assistance. After reporting, it stayed online.</a:t>
            </a:r>
          </a:p>
        </p:txBody>
      </p:sp>
      <p:sp>
        <p:nvSpPr>
          <p:cNvPr id="29" name="Rectangle 28"/>
          <p:cNvSpPr/>
          <p:nvPr/>
        </p:nvSpPr>
        <p:spPr>
          <a:xfrm>
            <a:off x="8183879"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No test existed that would have caught it.</a:t>
            </a:r>
          </a:p>
        </p:txBody>
      </p:sp>
      <p:sp>
        <p:nvSpPr>
          <p:cNvPr id="31" name="TextBox 30"/>
          <p:cNvSpPr txBox="1"/>
          <p:nvPr/>
        </p:nvSpPr>
        <p:spPr>
          <a:xfrm>
            <a:off x="8183879" y="5468112"/>
            <a:ext cx="3017520" cy="182880"/>
          </a:xfrm>
          <a:prstGeom prst="rect">
            <a:avLst/>
          </a:prstGeom>
          <a:noFill/>
        </p:spPr>
        <p:txBody>
          <a:bodyPr wrap="square" lIns="0" rIns="0" tIns="0" bIns="0" anchor="t">
            <a:spAutoFit/>
          </a:bodyPr>
          <a:lstStyle/>
          <a:p>
            <a:r>
              <a:rPr sz="860" b="0">
                <a:solidFill>
                  <a:srgbClr val="71849C"/>
                </a:solidFill>
                <a:latin typeface="Aptos"/>
              </a:rPr>
              <a:t>The Markup / THE CITY, April 2024</a:t>
            </a:r>
          </a:p>
        </p:txBody>
      </p:sp>
      <p:sp>
        <p:nvSpPr>
          <p:cNvPr id="32" name="TextBox 31"/>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Three different causes — a fabricated policy, a lagging model, an untested release. One shared gap: nothing tested the answer first.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03</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One memory failure. Many different consequences.</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Illustrative scenarios — wherever yesterday’s context drives today’s answer or action.</a:t>
            </a:r>
            <a:endParaRPr lang="en-US" sz="1500" dirty="0"/>
          </a:p>
        </p:txBody>
      </p:sp>
      <p:sp>
        <p:nvSpPr>
          <p:cNvPr id="8" name="Shape 6"/>
          <p:cNvSpPr/>
          <p:nvPr/>
        </p:nvSpPr>
        <p:spPr>
          <a:xfrm>
            <a:off x="594360" y="1965960"/>
            <a:ext cx="5431536" cy="1472184"/>
          </a:xfrm>
          <a:prstGeom prst="roundRect">
            <a:avLst>
              <a:gd name="adj" fmla="val 9938"/>
            </a:avLst>
          </a:prstGeom>
          <a:solidFill>
            <a:srgbClr val="121E30"/>
          </a:solidFill>
          <a:ln w="10160">
            <a:solidFill>
              <a:srgbClr val="2C4058"/>
            </a:solidFill>
            <a:prstDash val="solid"/>
          </a:ln>
        </p:spPr>
        <p:txBody>
          <a:bodyPr/>
          <a:p/>
        </p:txBody>
      </p:sp>
      <p:sp>
        <p:nvSpPr>
          <p:cNvPr id="9" name="Text 7"/>
          <p:cNvSpPr/>
          <p:nvPr/>
        </p:nvSpPr>
        <p:spPr>
          <a:xfrm>
            <a:off x="804672" y="2139696"/>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76ACFF"/>
                </a:solidFill>
                <a:latin typeface="Aptos" pitchFamily="34" charset="0"/>
                <a:ea typeface="Aptos" pitchFamily="34" charset="-122"/>
                <a:cs typeface="Aptos" pitchFamily="34" charset="-120"/>
              </a:rPr>
              <a:t>PERSONAL AI</a:t>
            </a:r>
            <a:endParaRPr lang="en-US" sz="1050" dirty="0"/>
          </a:p>
        </p:txBody>
      </p:sp>
      <p:sp>
        <p:nvSpPr>
          <p:cNvPr id="10" name="Text 8"/>
          <p:cNvSpPr/>
          <p:nvPr/>
        </p:nvSpPr>
        <p:spPr>
          <a:xfrm>
            <a:off x="804672" y="2404872"/>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Travel dates changed</a:t>
            </a:r>
            <a:endParaRPr lang="en-US" sz="2000" dirty="0"/>
          </a:p>
        </p:txBody>
      </p:sp>
      <p:sp>
        <p:nvSpPr>
          <p:cNvPr id="11" name="Text 9"/>
          <p:cNvSpPr/>
          <p:nvPr/>
        </p:nvSpPr>
        <p:spPr>
          <a:xfrm>
            <a:off x="804672" y="2880360"/>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Assistant plans around the old dates</a:t>
            </a:r>
            <a:endParaRPr lang="en-US" sz="1450" dirty="0"/>
          </a:p>
        </p:txBody>
      </p:sp>
      <p:sp>
        <p:nvSpPr>
          <p:cNvPr id="12" name="Shape 10"/>
          <p:cNvSpPr/>
          <p:nvPr/>
        </p:nvSpPr>
        <p:spPr>
          <a:xfrm>
            <a:off x="6172200" y="1965960"/>
            <a:ext cx="5431536" cy="1472184"/>
          </a:xfrm>
          <a:prstGeom prst="roundRect">
            <a:avLst>
              <a:gd name="adj" fmla="val 9938"/>
            </a:avLst>
          </a:prstGeom>
          <a:solidFill>
            <a:srgbClr val="121E30"/>
          </a:solidFill>
          <a:ln w="10160">
            <a:solidFill>
              <a:srgbClr val="2C4058"/>
            </a:solidFill>
            <a:prstDash val="solid"/>
          </a:ln>
        </p:spPr>
        <p:txBody>
          <a:bodyPr/>
          <a:p/>
        </p:txBody>
      </p:sp>
      <p:sp>
        <p:nvSpPr>
          <p:cNvPr id="13" name="Text 11"/>
          <p:cNvSpPr/>
          <p:nvPr/>
        </p:nvSpPr>
        <p:spPr>
          <a:xfrm>
            <a:off x="6382512" y="2139696"/>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51E1C2"/>
                </a:solidFill>
                <a:latin typeface="Aptos" pitchFamily="34" charset="0"/>
                <a:ea typeface="Aptos" pitchFamily="34" charset="-122"/>
                <a:cs typeface="Aptos" pitchFamily="34" charset="-120"/>
              </a:rPr>
              <a:t>WORKPLACE AGENT</a:t>
            </a:r>
            <a:endParaRPr lang="en-US" sz="1050" dirty="0"/>
          </a:p>
        </p:txBody>
      </p:sp>
      <p:sp>
        <p:nvSpPr>
          <p:cNvPr id="14" name="Text 12"/>
          <p:cNvSpPr/>
          <p:nvPr/>
        </p:nvSpPr>
        <p:spPr>
          <a:xfrm>
            <a:off x="6382512" y="2404872"/>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Candidate availability updated</a:t>
            </a:r>
            <a:endParaRPr lang="en-US" sz="2000" dirty="0"/>
          </a:p>
        </p:txBody>
      </p:sp>
      <p:sp>
        <p:nvSpPr>
          <p:cNvPr id="15" name="Text 13"/>
          <p:cNvSpPr/>
          <p:nvPr/>
        </p:nvSpPr>
        <p:spPr>
          <a:xfrm>
            <a:off x="6382512" y="2880360"/>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Scheduling agent picks the old time</a:t>
            </a:r>
            <a:endParaRPr lang="en-US" sz="1450" dirty="0"/>
          </a:p>
        </p:txBody>
      </p:sp>
      <p:sp>
        <p:nvSpPr>
          <p:cNvPr id="16" name="Shape 14"/>
          <p:cNvSpPr/>
          <p:nvPr/>
        </p:nvSpPr>
        <p:spPr>
          <a:xfrm>
            <a:off x="594360" y="3593592"/>
            <a:ext cx="5431536" cy="1472184"/>
          </a:xfrm>
          <a:prstGeom prst="roundRect">
            <a:avLst>
              <a:gd name="adj" fmla="val 9938"/>
            </a:avLst>
          </a:prstGeom>
          <a:solidFill>
            <a:srgbClr val="121E30"/>
          </a:solidFill>
          <a:ln w="10160">
            <a:solidFill>
              <a:srgbClr val="2C4058"/>
            </a:solidFill>
            <a:prstDash val="solid"/>
          </a:ln>
        </p:spPr>
        <p:txBody>
          <a:bodyPr/>
          <a:p/>
        </p:txBody>
      </p:sp>
      <p:sp>
        <p:nvSpPr>
          <p:cNvPr id="17" name="Text 15"/>
          <p:cNvSpPr/>
          <p:nvPr/>
        </p:nvSpPr>
        <p:spPr>
          <a:xfrm>
            <a:off x="804672" y="3767328"/>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FFB864"/>
                </a:solidFill>
                <a:latin typeface="Aptos" pitchFamily="34" charset="0"/>
                <a:ea typeface="Aptos" pitchFamily="34" charset="-122"/>
                <a:cs typeface="Aptos" pitchFamily="34" charset="-120"/>
              </a:rPr>
              <a:t>ENGINEERING AI</a:t>
            </a:r>
            <a:endParaRPr lang="en-US" sz="1050" dirty="0"/>
          </a:p>
        </p:txBody>
      </p:sp>
      <p:sp>
        <p:nvSpPr>
          <p:cNvPr id="18" name="Text 16"/>
          <p:cNvSpPr/>
          <p:nvPr/>
        </p:nvSpPr>
        <p:spPr>
          <a:xfrm>
            <a:off x="804672" y="4032504"/>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Safety limit added last week</a:t>
            </a:r>
            <a:endParaRPr lang="en-US" sz="2000" dirty="0"/>
          </a:p>
        </p:txBody>
      </p:sp>
      <p:sp>
        <p:nvSpPr>
          <p:cNvPr id="19" name="Text 17"/>
          <p:cNvSpPr/>
          <p:nvPr/>
        </p:nvSpPr>
        <p:spPr>
          <a:xfrm>
            <a:off x="804672" y="4507992"/>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Copilot answers as if it never existed</a:t>
            </a:r>
            <a:endParaRPr lang="en-US" sz="1450" dirty="0"/>
          </a:p>
        </p:txBody>
      </p:sp>
      <p:sp>
        <p:nvSpPr>
          <p:cNvPr id="20" name="Shape 18"/>
          <p:cNvSpPr/>
          <p:nvPr/>
        </p:nvSpPr>
        <p:spPr>
          <a:xfrm>
            <a:off x="6172200" y="3593592"/>
            <a:ext cx="5431536" cy="1472184"/>
          </a:xfrm>
          <a:prstGeom prst="roundRect">
            <a:avLst>
              <a:gd name="adj" fmla="val 9938"/>
            </a:avLst>
          </a:prstGeom>
          <a:solidFill>
            <a:srgbClr val="121E30"/>
          </a:solidFill>
          <a:ln w="10160">
            <a:solidFill>
              <a:srgbClr val="2C4058"/>
            </a:solidFill>
            <a:prstDash val="solid"/>
          </a:ln>
        </p:spPr>
        <p:txBody>
          <a:bodyPr/>
          <a:p/>
        </p:txBody>
      </p:sp>
      <p:sp>
        <p:nvSpPr>
          <p:cNvPr id="21" name="Text 19"/>
          <p:cNvSpPr/>
          <p:nvPr/>
        </p:nvSpPr>
        <p:spPr>
          <a:xfrm>
            <a:off x="6382512" y="3767328"/>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FF7185"/>
                </a:solidFill>
                <a:latin typeface="Aptos" pitchFamily="34" charset="0"/>
                <a:ea typeface="Aptos" pitchFamily="34" charset="-122"/>
                <a:cs typeface="Aptos" pitchFamily="34" charset="-120"/>
              </a:rPr>
              <a:t>SERVICE CHATBOT</a:t>
            </a:r>
            <a:endParaRPr lang="en-US" sz="1050" dirty="0"/>
          </a:p>
        </p:txBody>
      </p:sp>
      <p:sp>
        <p:nvSpPr>
          <p:cNvPr id="22" name="Text 20"/>
          <p:cNvSpPr/>
          <p:nvPr/>
        </p:nvSpPr>
        <p:spPr>
          <a:xfrm>
            <a:off x="6382512" y="4032504"/>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Refund policy shortened</a:t>
            </a:r>
            <a:endParaRPr lang="en-US" sz="2000" dirty="0"/>
          </a:p>
        </p:txBody>
      </p:sp>
      <p:sp>
        <p:nvSpPr>
          <p:cNvPr id="23" name="Text 21"/>
          <p:cNvSpPr/>
          <p:nvPr/>
        </p:nvSpPr>
        <p:spPr>
          <a:xfrm>
            <a:off x="6382512" y="4507992"/>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Customer receives outdated guidance</a:t>
            </a:r>
            <a:endParaRPr lang="en-US" sz="1450" dirty="0"/>
          </a:p>
        </p:txBody>
      </p:sp>
      <p:sp>
        <p:nvSpPr>
          <p:cNvPr id="24" name="Shape 22"/>
          <p:cNvSpPr/>
          <p:nvPr/>
        </p:nvSpPr>
        <p:spPr>
          <a:xfrm>
            <a:off x="594360" y="5404104"/>
            <a:ext cx="11009376" cy="566928"/>
          </a:xfrm>
          <a:prstGeom prst="roundRect">
            <a:avLst>
              <a:gd name="adj" fmla="val 25806"/>
            </a:avLst>
          </a:prstGeom>
          <a:solidFill>
            <a:srgbClr val="0E1A2B"/>
          </a:solidFill>
          <a:ln w="10160">
            <a:solidFill>
              <a:srgbClr val="51E1C2"/>
            </a:solidFill>
            <a:prstDash val="solid"/>
          </a:ln>
        </p:spPr>
        <p:txBody>
          <a:bodyPr/>
          <a:p/>
        </p:txBody>
      </p:sp>
      <p:sp>
        <p:nvSpPr>
          <p:cNvPr id="25" name="Text 23"/>
          <p:cNvSpPr/>
          <p:nvPr/>
        </p:nvSpPr>
        <p:spPr>
          <a:xfrm>
            <a:off x="813816" y="5541264"/>
            <a:ext cx="10469880" cy="274320"/>
          </a:xfrm>
          <a:prstGeom prst="rect">
            <a:avLst/>
          </a:prstGeom>
          <a:noFill/>
          <a:ln/>
        </p:spPr>
        <p:txBody>
          <a:bodyPr wrap="square" lIns="0" tIns="0" rIns="0" bIns="0" rtlCol="0" anchor="ctr">
            <a:normAutofit/>
          </a:bodyPr>
          <a:lstStyle/>
          <a:p>
            <a:pPr algn="ctr" indent="0" marL="0">
              <a:buNone/>
            </a:pPr>
            <a:r>
              <a:rPr lang="en-US" sz="1750" b="1" dirty="0">
                <a:solidFill>
                  <a:srgbClr val="51E1C2"/>
                </a:solidFill>
                <a:latin typeface="Aptos" pitchFamily="34" charset="0"/>
                <a:ea typeface="Aptos" pitchFamily="34" charset="-122"/>
                <a:cs typeface="Aptos" pitchFamily="34" charset="-120"/>
              </a:rPr>
              <a:t>Two directions, one gap:  STALE FACT KEPT  ·  CURRENT FACT LOST</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04</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RegWatch: a memory check for AI systems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A repeatable assurance test for agents, assistants and AI-powered workflows.</a:t>
            </a:r>
          </a:p>
        </p:txBody>
      </p:sp>
      <p:sp>
        <p:nvSpPr>
          <p:cNvPr id="8" name="Rounded Rectangle 7"/>
          <p:cNvSpPr/>
          <p:nvPr/>
        </p:nvSpPr>
        <p:spPr>
          <a:xfrm>
            <a:off x="585216"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212848"/>
            <a:ext cx="914400" cy="411480"/>
          </a:xfrm>
          <a:prstGeom prst="rect">
            <a:avLst/>
          </a:prstGeom>
          <a:noFill/>
        </p:spPr>
        <p:txBody>
          <a:bodyPr wrap="square" lIns="0" rIns="0" tIns="0" bIns="0" anchor="t">
            <a:spAutoFit/>
          </a:bodyPr>
          <a:lstStyle/>
          <a:p>
            <a:r>
              <a:rPr sz="2900" b="1">
                <a:solidFill>
                  <a:srgbClr val="51E1C2"/>
                </a:solidFill>
                <a:latin typeface="Aptos Display"/>
              </a:rPr>
              <a:t>01</a:t>
            </a:r>
          </a:p>
        </p:txBody>
      </p:sp>
      <p:sp>
        <p:nvSpPr>
          <p:cNvPr id="10" name="TextBox 9"/>
          <p:cNvSpPr txBox="1"/>
          <p:nvPr/>
        </p:nvSpPr>
        <p:spPr>
          <a:xfrm>
            <a:off x="786384" y="2761488"/>
            <a:ext cx="2322576" cy="338328"/>
          </a:xfrm>
          <a:prstGeom prst="rect">
            <a:avLst/>
          </a:prstGeom>
          <a:noFill/>
        </p:spPr>
        <p:txBody>
          <a:bodyPr wrap="square" lIns="0" rIns="0" tIns="0" bIns="0" anchor="t">
            <a:spAutoFit/>
          </a:bodyPr>
          <a:lstStyle/>
          <a:p>
            <a:r>
              <a:rPr sz="1900" b="1" spc="75">
                <a:solidFill>
                  <a:srgbClr val="F5F8FC"/>
                </a:solidFill>
                <a:latin typeface="Aptos"/>
              </a:rPr>
              <a:t>REPLAY</a:t>
            </a:r>
          </a:p>
        </p:txBody>
      </p:sp>
      <p:sp>
        <p:nvSpPr>
          <p:cNvPr id="11" name="TextBox 10"/>
          <p:cNvSpPr txBox="1"/>
          <p:nvPr/>
        </p:nvSpPr>
        <p:spPr>
          <a:xfrm>
            <a:off x="786384"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Give the system dated facts and later updates</a:t>
            </a:r>
          </a:p>
        </p:txBody>
      </p:sp>
      <p:sp>
        <p:nvSpPr>
          <p:cNvPr id="12" name="Rectangle 11"/>
          <p:cNvSpPr/>
          <p:nvPr/>
        </p:nvSpPr>
        <p:spPr>
          <a:xfrm>
            <a:off x="786384"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Python  ·  PyYAML</a:t>
            </a:r>
          </a:p>
          <a:p>
            <a:pPr>
              <a:lnSpc>
                <a:spcPct val="125000"/>
              </a:lnSpc>
            </a:pPr>
            <a:r>
              <a:rPr sz="1050" b="0">
                <a:solidFill>
                  <a:srgbClr val="51E1C2"/>
                </a:solidFill>
                <a:latin typeface="Aptos"/>
              </a:rPr>
              <a:t>dated session fixtures</a:t>
            </a:r>
          </a:p>
        </p:txBody>
      </p:sp>
      <p:sp>
        <p:nvSpPr>
          <p:cNvPr id="14" name="TextBox 13"/>
          <p:cNvSpPr txBox="1"/>
          <p:nvPr/>
        </p:nvSpPr>
        <p:spPr>
          <a:xfrm>
            <a:off x="3328416"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15" name="Rounded Rectangle 14"/>
          <p:cNvSpPr/>
          <p:nvPr/>
        </p:nvSpPr>
        <p:spPr>
          <a:xfrm>
            <a:off x="3474720"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75888" y="2212848"/>
            <a:ext cx="914400" cy="411480"/>
          </a:xfrm>
          <a:prstGeom prst="rect">
            <a:avLst/>
          </a:prstGeom>
          <a:noFill/>
        </p:spPr>
        <p:txBody>
          <a:bodyPr wrap="square" lIns="0" rIns="0" tIns="0" bIns="0" anchor="t">
            <a:spAutoFit/>
          </a:bodyPr>
          <a:lstStyle/>
          <a:p>
            <a:r>
              <a:rPr sz="2900" b="1">
                <a:solidFill>
                  <a:srgbClr val="51E1C2"/>
                </a:solidFill>
                <a:latin typeface="Aptos Display"/>
              </a:rPr>
              <a:t>02</a:t>
            </a:r>
          </a:p>
        </p:txBody>
      </p:sp>
      <p:sp>
        <p:nvSpPr>
          <p:cNvPr id="17" name="TextBox 16"/>
          <p:cNvSpPr txBox="1"/>
          <p:nvPr/>
        </p:nvSpPr>
        <p:spPr>
          <a:xfrm>
            <a:off x="3675888" y="2761488"/>
            <a:ext cx="2322576" cy="338328"/>
          </a:xfrm>
          <a:prstGeom prst="rect">
            <a:avLst/>
          </a:prstGeom>
          <a:noFill/>
        </p:spPr>
        <p:txBody>
          <a:bodyPr wrap="square" lIns="0" rIns="0" tIns="0" bIns="0" anchor="t">
            <a:spAutoFit/>
          </a:bodyPr>
          <a:lstStyle/>
          <a:p>
            <a:r>
              <a:rPr sz="1900" b="1" spc="75">
                <a:solidFill>
                  <a:srgbClr val="F5F8FC"/>
                </a:solidFill>
                <a:latin typeface="Aptos"/>
              </a:rPr>
              <a:t>PROBE</a:t>
            </a:r>
          </a:p>
        </p:txBody>
      </p:sp>
      <p:sp>
        <p:nvSpPr>
          <p:cNvPr id="18" name="TextBox 17"/>
          <p:cNvSpPr txBox="1"/>
          <p:nvPr/>
        </p:nvSpPr>
        <p:spPr>
          <a:xfrm>
            <a:off x="3675888"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Ask targeted test questions</a:t>
            </a:r>
          </a:p>
        </p:txBody>
      </p:sp>
      <p:sp>
        <p:nvSpPr>
          <p:cNvPr id="19" name="Rectangle 18"/>
          <p:cNvSpPr/>
          <p:nvPr/>
        </p:nvSpPr>
        <p:spPr>
          <a:xfrm>
            <a:off x="3675888"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LiteLLM gateway</a:t>
            </a:r>
          </a:p>
          <a:p>
            <a:pPr>
              <a:lnSpc>
                <a:spcPct val="125000"/>
              </a:lnSpc>
            </a:pPr>
            <a:r>
              <a:rPr sz="1050" b="0">
                <a:solidFill>
                  <a:srgbClr val="51E1C2"/>
                </a:solidFill>
                <a:latin typeface="Aptos"/>
              </a:rPr>
              <a:t>Claude Opus  ·  disk cache</a:t>
            </a:r>
          </a:p>
        </p:txBody>
      </p:sp>
      <p:sp>
        <p:nvSpPr>
          <p:cNvPr id="21" name="TextBox 20"/>
          <p:cNvSpPr txBox="1"/>
          <p:nvPr/>
        </p:nvSpPr>
        <p:spPr>
          <a:xfrm>
            <a:off x="6217920"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22" name="Rounded Rectangle 21"/>
          <p:cNvSpPr/>
          <p:nvPr/>
        </p:nvSpPr>
        <p:spPr>
          <a:xfrm>
            <a:off x="6364224"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65392" y="2212848"/>
            <a:ext cx="914400" cy="411480"/>
          </a:xfrm>
          <a:prstGeom prst="rect">
            <a:avLst/>
          </a:prstGeom>
          <a:noFill/>
        </p:spPr>
        <p:txBody>
          <a:bodyPr wrap="square" lIns="0" rIns="0" tIns="0" bIns="0" anchor="t">
            <a:spAutoFit/>
          </a:bodyPr>
          <a:lstStyle/>
          <a:p>
            <a:r>
              <a:rPr sz="2900" b="1">
                <a:solidFill>
                  <a:srgbClr val="51E1C2"/>
                </a:solidFill>
                <a:latin typeface="Aptos Display"/>
              </a:rPr>
              <a:t>03</a:t>
            </a:r>
          </a:p>
        </p:txBody>
      </p:sp>
      <p:sp>
        <p:nvSpPr>
          <p:cNvPr id="24" name="TextBox 23"/>
          <p:cNvSpPr txBox="1"/>
          <p:nvPr/>
        </p:nvSpPr>
        <p:spPr>
          <a:xfrm>
            <a:off x="6565392" y="2761488"/>
            <a:ext cx="2322576" cy="338328"/>
          </a:xfrm>
          <a:prstGeom prst="rect">
            <a:avLst/>
          </a:prstGeom>
          <a:noFill/>
        </p:spPr>
        <p:txBody>
          <a:bodyPr wrap="square" lIns="0" rIns="0" tIns="0" bIns="0" anchor="t">
            <a:spAutoFit/>
          </a:bodyPr>
          <a:lstStyle/>
          <a:p>
            <a:r>
              <a:rPr sz="1900" b="1" spc="75">
                <a:solidFill>
                  <a:srgbClr val="F5F8FC"/>
                </a:solidFill>
                <a:latin typeface="Aptos"/>
              </a:rPr>
              <a:t>VERIFY</a:t>
            </a:r>
          </a:p>
        </p:txBody>
      </p:sp>
      <p:sp>
        <p:nvSpPr>
          <p:cNvPr id="25" name="TextBox 24"/>
          <p:cNvSpPr txBox="1"/>
          <p:nvPr/>
        </p:nvSpPr>
        <p:spPr>
          <a:xfrm>
            <a:off x="6565392"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Compare with an independent answer key</a:t>
            </a:r>
          </a:p>
        </p:txBody>
      </p:sp>
      <p:sp>
        <p:nvSpPr>
          <p:cNvPr id="26" name="Rectangle 25"/>
          <p:cNvSpPr/>
          <p:nvPr/>
        </p:nvSpPr>
        <p:spPr>
          <a:xfrm>
            <a:off x="6565392"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65392"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Deterministic scorer</a:t>
            </a:r>
          </a:p>
          <a:p>
            <a:pPr>
              <a:lnSpc>
                <a:spcPct val="125000"/>
              </a:lnSpc>
            </a:pPr>
            <a:r>
              <a:rPr sz="1050" b="0">
                <a:solidFill>
                  <a:srgbClr val="51E1C2"/>
                </a:solidFill>
                <a:latin typeface="Aptos"/>
              </a:rPr>
              <a:t>pytest regression suite</a:t>
            </a:r>
          </a:p>
        </p:txBody>
      </p:sp>
      <p:sp>
        <p:nvSpPr>
          <p:cNvPr id="28" name="TextBox 27"/>
          <p:cNvSpPr txBox="1"/>
          <p:nvPr/>
        </p:nvSpPr>
        <p:spPr>
          <a:xfrm>
            <a:off x="9107424"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29" name="Rounded Rectangle 28"/>
          <p:cNvSpPr/>
          <p:nvPr/>
        </p:nvSpPr>
        <p:spPr>
          <a:xfrm>
            <a:off x="9253728"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454896" y="2212848"/>
            <a:ext cx="914400" cy="411480"/>
          </a:xfrm>
          <a:prstGeom prst="rect">
            <a:avLst/>
          </a:prstGeom>
          <a:noFill/>
        </p:spPr>
        <p:txBody>
          <a:bodyPr wrap="square" lIns="0" rIns="0" tIns="0" bIns="0" anchor="t">
            <a:spAutoFit/>
          </a:bodyPr>
          <a:lstStyle/>
          <a:p>
            <a:r>
              <a:rPr sz="2900" b="1">
                <a:solidFill>
                  <a:srgbClr val="FFB864"/>
                </a:solidFill>
                <a:latin typeface="Aptos Display"/>
              </a:rPr>
              <a:t>04</a:t>
            </a:r>
          </a:p>
        </p:txBody>
      </p:sp>
      <p:sp>
        <p:nvSpPr>
          <p:cNvPr id="31" name="TextBox 30"/>
          <p:cNvSpPr txBox="1"/>
          <p:nvPr/>
        </p:nvSpPr>
        <p:spPr>
          <a:xfrm>
            <a:off x="9454896" y="2761488"/>
            <a:ext cx="2322576" cy="338328"/>
          </a:xfrm>
          <a:prstGeom prst="rect">
            <a:avLst/>
          </a:prstGeom>
          <a:noFill/>
        </p:spPr>
        <p:txBody>
          <a:bodyPr wrap="square" lIns="0" rIns="0" tIns="0" bIns="0" anchor="t">
            <a:spAutoFit/>
          </a:bodyPr>
          <a:lstStyle/>
          <a:p>
            <a:r>
              <a:rPr sz="1900" b="1" spc="75">
                <a:solidFill>
                  <a:srgbClr val="F5F8FC"/>
                </a:solidFill>
                <a:latin typeface="Aptos"/>
              </a:rPr>
              <a:t>EXPLAIN</a:t>
            </a:r>
          </a:p>
        </p:txBody>
      </p:sp>
      <p:sp>
        <p:nvSpPr>
          <p:cNvPr id="32" name="TextBox 31"/>
          <p:cNvSpPr txBox="1"/>
          <p:nvPr/>
        </p:nvSpPr>
        <p:spPr>
          <a:xfrm>
            <a:off x="9454896"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Flag errors and show supporting evidence</a:t>
            </a:r>
          </a:p>
        </p:txBody>
      </p:sp>
      <p:sp>
        <p:nvSpPr>
          <p:cNvPr id="33" name="Rectangle 32"/>
          <p:cNvSpPr/>
          <p:nvPr/>
        </p:nvSpPr>
        <p:spPr>
          <a:xfrm>
            <a:off x="9454896"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Streamlit dashboard</a:t>
            </a:r>
          </a:p>
          <a:p>
            <a:pPr>
              <a:lnSpc>
                <a:spcPct val="125000"/>
              </a:lnSpc>
            </a:pPr>
            <a:r>
              <a:rPr sz="1050" b="0">
                <a:solidFill>
                  <a:srgbClr val="51E1C2"/>
                </a:solidFill>
                <a:latin typeface="Aptos"/>
              </a:rPr>
              <a:t>JSONL run log</a:t>
            </a:r>
          </a:p>
        </p:txBody>
      </p:sp>
      <p:sp>
        <p:nvSpPr>
          <p:cNvPr id="35" name="Rounded Rectangle 34"/>
          <p:cNvSpPr/>
          <p:nvPr/>
        </p:nvSpPr>
        <p:spPr>
          <a:xfrm>
            <a:off x="594360" y="4974336"/>
            <a:ext cx="10991088" cy="768096"/>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96112" y="4974336"/>
            <a:ext cx="10387584" cy="768096"/>
          </a:xfrm>
          <a:prstGeom prst="rect">
            <a:avLst/>
          </a:prstGeom>
          <a:noFill/>
        </p:spPr>
        <p:txBody>
          <a:bodyPr wrap="square" lIns="0" rIns="0" tIns="0" bIns="0" anchor="ctr">
            <a:spAutoFit/>
          </a:bodyPr>
          <a:lstStyle/>
          <a:p>
            <a:pPr algn="ctr"/>
            <a:r>
              <a:rPr sz="1350" b="0">
                <a:solidFill>
                  <a:srgbClr val="A2B4C9"/>
                </a:solidFill>
                <a:latin typeface="Aptos"/>
              </a:rPr>
              <a:t>Memory backends under test:  </a:t>
            </a:r>
            <a:r>
              <a:rPr sz="1350" b="1">
                <a:solidFill>
                  <a:srgbClr val="F5F8FC"/>
                </a:solidFill>
                <a:latin typeface="Aptos"/>
              </a:rPr>
              <a:t>full history</a:t>
            </a:r>
            <a:r>
              <a:rPr sz="1350" b="0">
                <a:solidFill>
                  <a:srgbClr val="71849C"/>
                </a:solidFill>
                <a:latin typeface="Aptos"/>
              </a:rPr>
              <a:t>  ·  </a:t>
            </a:r>
            <a:r>
              <a:rPr sz="1350" b="1">
                <a:solidFill>
                  <a:srgbClr val="F5F8FC"/>
                </a:solidFill>
                <a:latin typeface="Aptos"/>
              </a:rPr>
              <a:t>LangGraph-style latest-per-key reducer</a:t>
            </a:r>
            <a:r>
              <a:rPr sz="1350" b="0">
                <a:solidFill>
                  <a:srgbClr val="71849C"/>
                </a:solidFill>
                <a:latin typeface="Aptos"/>
              </a:rPr>
              <a:t>  ·  </a:t>
            </a:r>
            <a:r>
              <a:rPr sz="1350" b="1">
                <a:solidFill>
                  <a:srgbClr val="F5F8FC"/>
                </a:solidFill>
                <a:latin typeface="Aptos"/>
              </a:rPr>
              <a:t>LiteLLM token-budget trim</a:t>
            </a:r>
            <a:r>
              <a:rPr sz="1350" b="0">
                <a:solidFill>
                  <a:srgbClr val="A2B4C9"/>
                </a:solidFill>
                <a:latin typeface="Aptos"/>
              </a:rPr>
              <a:t>     Service: </a:t>
            </a:r>
            <a:r>
              <a:rPr sz="1350" b="1">
                <a:solidFill>
                  <a:srgbClr val="F5F8FC"/>
                </a:solidFill>
                <a:latin typeface="Aptos"/>
              </a:rPr>
              <a:t>FastAPI</a:t>
            </a:r>
          </a:p>
        </p:txBody>
      </p:sp>
      <p:sp>
        <p:nvSpPr>
          <p:cNvPr id="37" name="TextBox 36"/>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Every backend implements one frozen interface, so the memory layer is the only variable. RegWatch tests accessible, controlled memory systems; it cannot read hidden third-party AI memory.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LIVE DEMONSTRATION  /  REGWATCH AI</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05</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Shape 4"/>
          <p:cNvSpPr/>
          <p:nvPr/>
        </p:nvSpPr>
        <p:spPr>
          <a:xfrm>
            <a:off x="585216" y="969264"/>
            <a:ext cx="4297680" cy="347472"/>
          </a:xfrm>
          <a:prstGeom prst="roundRect">
            <a:avLst>
              <a:gd name="adj" fmla="val 42105"/>
            </a:avLst>
          </a:prstGeom>
          <a:solidFill>
            <a:srgbClr val="19273A"/>
          </a:solidFill>
          <a:ln w="10160">
            <a:solidFill>
              <a:srgbClr val="2C4058"/>
            </a:solidFill>
            <a:prstDash val="solid"/>
          </a:ln>
        </p:spPr>
      </p:sp>
      <p:sp>
        <p:nvSpPr>
          <p:cNvPr id="7" name="Text 5"/>
          <p:cNvSpPr/>
          <p:nvPr/>
        </p:nvSpPr>
        <p:spPr>
          <a:xfrm>
            <a:off x="704088" y="1042416"/>
            <a:ext cx="4069080"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NOW: WALK THROUGH THE PROTOTYPE</a:t>
            </a:r>
            <a:endParaRPr lang="en-US" sz="1020" dirty="0"/>
          </a:p>
        </p:txBody>
      </p:sp>
      <p:sp>
        <p:nvSpPr>
          <p:cNvPr id="8" name="Text 6"/>
          <p:cNvSpPr/>
          <p:nvPr/>
        </p:nvSpPr>
        <p:spPr>
          <a:xfrm>
            <a:off x="585216" y="1591056"/>
            <a:ext cx="11009376" cy="749808"/>
          </a:xfrm>
          <a:prstGeom prst="rect">
            <a:avLst/>
          </a:prstGeom>
          <a:noFill/>
          <a:ln/>
        </p:spPr>
        <p:txBody>
          <a:bodyPr wrap="square" lIns="0" tIns="0" rIns="0" bIns="0" rtlCol="0" anchor="ctr">
            <a:normAutofit/>
          </a:bodyPr>
          <a:lstStyle/>
          <a:p>
            <a:pPr indent="0" marL="0">
              <a:buNone/>
            </a:pPr>
            <a:r>
              <a:rPr lang="en-US" sz="4500" b="1" dirty="0">
                <a:solidFill>
                  <a:srgbClr val="F5F8FC"/>
                </a:solidFill>
                <a:latin typeface="Aptos Display" pitchFamily="34" charset="0"/>
                <a:ea typeface="Aptos Display" pitchFamily="34" charset="-122"/>
                <a:cs typeface="Aptos Display" pitchFamily="34" charset="-120"/>
              </a:rPr>
              <a:t>Let’s test what</a:t>
            </a:r>
            <a:endParaRPr lang="en-US" sz="4500" dirty="0"/>
          </a:p>
        </p:txBody>
      </p:sp>
      <p:sp>
        <p:nvSpPr>
          <p:cNvPr id="9" name="Text 7"/>
          <p:cNvSpPr/>
          <p:nvPr/>
        </p:nvSpPr>
        <p:spPr>
          <a:xfrm>
            <a:off x="585216" y="2340864"/>
            <a:ext cx="11009376" cy="832104"/>
          </a:xfrm>
          <a:prstGeom prst="rect">
            <a:avLst/>
          </a:prstGeom>
          <a:noFill/>
          <a:ln/>
        </p:spPr>
        <p:txBody>
          <a:bodyPr wrap="square" lIns="0" tIns="0" rIns="0" bIns="0" rtlCol="0" anchor="ctr">
            <a:normAutofit/>
          </a:bodyPr>
          <a:lstStyle/>
          <a:p>
            <a:pPr indent="0" marL="0">
              <a:buNone/>
            </a:pPr>
            <a:r>
              <a:rPr lang="en-US" sz="4700" b="1" dirty="0">
                <a:solidFill>
                  <a:srgbClr val="51E1C2"/>
                </a:solidFill>
                <a:latin typeface="Aptos Display" pitchFamily="34" charset="0"/>
                <a:ea typeface="Aptos Display" pitchFamily="34" charset="-122"/>
                <a:cs typeface="Aptos Display" pitchFamily="34" charset="-120"/>
              </a:rPr>
              <a:t>the AI remembers.</a:t>
            </a:r>
            <a:endParaRPr lang="en-US" sz="4700" dirty="0"/>
          </a:p>
        </p:txBody>
      </p:sp>
      <p:sp>
        <p:nvSpPr>
          <p:cNvPr id="10" name="Shape 8"/>
          <p:cNvSpPr/>
          <p:nvPr/>
        </p:nvSpPr>
        <p:spPr>
          <a:xfrm>
            <a:off x="585216" y="3410712"/>
            <a:ext cx="11009376" cy="1554480"/>
          </a:xfrm>
          <a:prstGeom prst="roundRect">
            <a:avLst>
              <a:gd name="adj" fmla="val 9412"/>
            </a:avLst>
          </a:prstGeom>
          <a:solidFill>
            <a:srgbClr val="121E30"/>
          </a:solidFill>
          <a:ln w="10160">
            <a:solidFill>
              <a:srgbClr val="2C4058"/>
            </a:solidFill>
            <a:prstDash val="solid"/>
          </a:ln>
        </p:spPr>
      </p:sp>
      <p:sp>
        <p:nvSpPr>
          <p:cNvPr id="11" name="Shape 9"/>
          <p:cNvSpPr/>
          <p:nvPr/>
        </p:nvSpPr>
        <p:spPr>
          <a:xfrm>
            <a:off x="822960" y="3721608"/>
            <a:ext cx="310896" cy="310896"/>
          </a:xfrm>
          <a:prstGeom prst="ellipse">
            <a:avLst/>
          </a:prstGeom>
          <a:solidFill>
            <a:srgbClr val="51E1C2"/>
          </a:solidFill>
          <a:ln w="12700">
            <a:solidFill>
              <a:srgbClr val="51E1C2">
                <a:alpha val="0"/>
              </a:srgbClr>
            </a:solidFill>
            <a:prstDash val="solid"/>
          </a:ln>
        </p:spPr>
      </p:sp>
      <p:sp>
        <p:nvSpPr>
          <p:cNvPr id="12" name="Text 10"/>
          <p:cNvSpPr/>
          <p:nvPr/>
        </p:nvSpPr>
        <p:spPr>
          <a:xfrm>
            <a:off x="914400"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1</a:t>
            </a:r>
            <a:endParaRPr lang="en-US" sz="1100" dirty="0"/>
          </a:p>
        </p:txBody>
      </p:sp>
      <p:sp>
        <p:nvSpPr>
          <p:cNvPr id="13" name="Text 11"/>
          <p:cNvSpPr/>
          <p:nvPr/>
        </p:nvSpPr>
        <p:spPr>
          <a:xfrm>
            <a:off x="1234440"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Old + new information</a:t>
            </a:r>
            <a:endParaRPr lang="en-US" sz="1520" dirty="0"/>
          </a:p>
        </p:txBody>
      </p:sp>
      <p:sp>
        <p:nvSpPr>
          <p:cNvPr id="14" name="Shape 12"/>
          <p:cNvSpPr/>
          <p:nvPr/>
        </p:nvSpPr>
        <p:spPr>
          <a:xfrm>
            <a:off x="3575304" y="3721608"/>
            <a:ext cx="310896" cy="310896"/>
          </a:xfrm>
          <a:prstGeom prst="ellipse">
            <a:avLst/>
          </a:prstGeom>
          <a:solidFill>
            <a:srgbClr val="51E1C2"/>
          </a:solidFill>
          <a:ln w="12700">
            <a:solidFill>
              <a:srgbClr val="51E1C2">
                <a:alpha val="0"/>
              </a:srgbClr>
            </a:solidFill>
            <a:prstDash val="solid"/>
          </a:ln>
        </p:spPr>
      </p:sp>
      <p:sp>
        <p:nvSpPr>
          <p:cNvPr id="15" name="Text 13"/>
          <p:cNvSpPr/>
          <p:nvPr/>
        </p:nvSpPr>
        <p:spPr>
          <a:xfrm>
            <a:off x="3666744"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2</a:t>
            </a:r>
            <a:endParaRPr lang="en-US" sz="1100" dirty="0"/>
          </a:p>
        </p:txBody>
      </p:sp>
      <p:sp>
        <p:nvSpPr>
          <p:cNvPr id="16" name="Text 14"/>
          <p:cNvSpPr/>
          <p:nvPr/>
        </p:nvSpPr>
        <p:spPr>
          <a:xfrm>
            <a:off x="3986784"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One probe, all systems</a:t>
            </a:r>
            <a:endParaRPr lang="en-US" sz="1520" dirty="0"/>
          </a:p>
        </p:txBody>
      </p:sp>
      <p:sp>
        <p:nvSpPr>
          <p:cNvPr id="17" name="Shape 15"/>
          <p:cNvSpPr/>
          <p:nvPr/>
        </p:nvSpPr>
        <p:spPr>
          <a:xfrm>
            <a:off x="6327648" y="3721608"/>
            <a:ext cx="310896" cy="310896"/>
          </a:xfrm>
          <a:prstGeom prst="ellipse">
            <a:avLst/>
          </a:prstGeom>
          <a:solidFill>
            <a:srgbClr val="51E1C2"/>
          </a:solidFill>
          <a:ln w="12700">
            <a:solidFill>
              <a:srgbClr val="51E1C2">
                <a:alpha val="0"/>
              </a:srgbClr>
            </a:solidFill>
            <a:prstDash val="solid"/>
          </a:ln>
        </p:spPr>
      </p:sp>
      <p:sp>
        <p:nvSpPr>
          <p:cNvPr id="18" name="Text 16"/>
          <p:cNvSpPr/>
          <p:nvPr/>
        </p:nvSpPr>
        <p:spPr>
          <a:xfrm>
            <a:off x="6419088"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3</a:t>
            </a:r>
            <a:endParaRPr lang="en-US" sz="1100" dirty="0"/>
          </a:p>
        </p:txBody>
      </p:sp>
      <p:sp>
        <p:nvSpPr>
          <p:cNvPr id="19" name="Text 17"/>
          <p:cNvSpPr/>
          <p:nvPr/>
        </p:nvSpPr>
        <p:spPr>
          <a:xfrm>
            <a:off x="6739128"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Open a real failure</a:t>
            </a:r>
            <a:endParaRPr lang="en-US" sz="1520" dirty="0"/>
          </a:p>
        </p:txBody>
      </p:sp>
      <p:sp>
        <p:nvSpPr>
          <p:cNvPr id="20" name="Shape 18"/>
          <p:cNvSpPr/>
          <p:nvPr/>
        </p:nvSpPr>
        <p:spPr>
          <a:xfrm>
            <a:off x="9079992" y="3721608"/>
            <a:ext cx="310896" cy="310896"/>
          </a:xfrm>
          <a:prstGeom prst="ellipse">
            <a:avLst/>
          </a:prstGeom>
          <a:solidFill>
            <a:srgbClr val="FFB864"/>
          </a:solidFill>
          <a:ln w="12700">
            <a:solidFill>
              <a:srgbClr val="FFB864">
                <a:alpha val="0"/>
              </a:srgbClr>
            </a:solidFill>
            <a:prstDash val="solid"/>
          </a:ln>
        </p:spPr>
      </p:sp>
      <p:sp>
        <p:nvSpPr>
          <p:cNvPr id="21" name="Text 19"/>
          <p:cNvSpPr/>
          <p:nvPr/>
        </p:nvSpPr>
        <p:spPr>
          <a:xfrm>
            <a:off x="9171432"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4</a:t>
            </a:r>
            <a:endParaRPr lang="en-US" sz="1100" dirty="0"/>
          </a:p>
        </p:txBody>
      </p:sp>
      <p:sp>
        <p:nvSpPr>
          <p:cNvPr id="22" name="Text 20"/>
          <p:cNvSpPr/>
          <p:nvPr/>
        </p:nvSpPr>
        <p:spPr>
          <a:xfrm>
            <a:off x="9491472"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Inspect the evidence</a:t>
            </a:r>
            <a:endParaRPr lang="en-US" sz="1520" dirty="0"/>
          </a:p>
        </p:txBody>
      </p:sp>
      <p:sp>
        <p:nvSpPr>
          <p:cNvPr id="23" name="Shape 21"/>
          <p:cNvSpPr/>
          <p:nvPr/>
        </p:nvSpPr>
        <p:spPr>
          <a:xfrm>
            <a:off x="585216" y="5230368"/>
            <a:ext cx="7534656" cy="704088"/>
          </a:xfrm>
          <a:prstGeom prst="roundRect">
            <a:avLst>
              <a:gd name="adj" fmla="val 20779"/>
            </a:avLst>
          </a:prstGeom>
          <a:solidFill>
            <a:srgbClr val="0C534A"/>
          </a:solidFill>
          <a:ln w="10160">
            <a:solidFill>
              <a:srgbClr val="51E1C2"/>
            </a:solidFill>
            <a:prstDash val="solid"/>
          </a:ln>
        </p:spPr>
      </p:sp>
      <p:sp>
        <p:nvSpPr>
          <p:cNvPr id="24" name="Text 22"/>
          <p:cNvSpPr/>
          <p:nvPr/>
        </p:nvSpPr>
        <p:spPr>
          <a:xfrm>
            <a:off x="804672" y="5404104"/>
            <a:ext cx="6995160" cy="329184"/>
          </a:xfrm>
          <a:prstGeom prst="rect">
            <a:avLst/>
          </a:prstGeom>
          <a:noFill/>
          <a:ln/>
        </p:spPr>
        <p:txBody>
          <a:bodyPr wrap="square" lIns="0" tIns="0" rIns="0" bIns="0" rtlCol="0" anchor="ctr">
            <a:normAutofit/>
          </a:bodyPr>
          <a:lstStyle/>
          <a:p>
            <a:pPr indent="0" marL="0">
              <a:buNone/>
            </a:pPr>
            <a:r>
              <a:rPr lang="en-US" sz="1800" b="1" dirty="0">
                <a:solidFill>
                  <a:srgbClr val="F5F8FC"/>
                </a:solidFill>
                <a:latin typeface="Aptos" pitchFamily="34" charset="0"/>
                <a:ea typeface="Aptos" pitchFamily="34" charset="-122"/>
                <a:cs typeface="Aptos" pitchFamily="34" charset="-120"/>
              </a:rPr>
              <a:t>DEMO  •  SWITCH TO THE BROWSER APP</a:t>
            </a:r>
            <a:endParaRPr lang="en-US" sz="1800" dirty="0"/>
          </a:p>
        </p:txBody>
      </p:sp>
      <p:sp>
        <p:nvSpPr>
          <p:cNvPr id="25" name="Shape 23"/>
          <p:cNvSpPr/>
          <p:nvPr/>
        </p:nvSpPr>
        <p:spPr>
          <a:xfrm>
            <a:off x="8321040" y="5230368"/>
            <a:ext cx="3255264" cy="704088"/>
          </a:xfrm>
          <a:prstGeom prst="roundRect">
            <a:avLst>
              <a:gd name="adj" fmla="val 20779"/>
            </a:avLst>
          </a:prstGeom>
          <a:solidFill>
            <a:srgbClr val="19273A"/>
          </a:solidFill>
          <a:ln w="10160">
            <a:solidFill>
              <a:srgbClr val="2C4058"/>
            </a:solidFill>
            <a:prstDash val="solid"/>
          </a:ln>
        </p:spPr>
      </p:sp>
      <p:sp>
        <p:nvSpPr>
          <p:cNvPr id="26" name="Text 24">
            <a:hlinkClick r:id="rId1" tooltip=""/>
          </p:cNvPr>
          <p:cNvSpPr/>
          <p:nvPr/>
        </p:nvSpPr>
        <p:spPr>
          <a:xfrm>
            <a:off x="8549640" y="5449824"/>
            <a:ext cx="2770632" cy="256032"/>
          </a:xfrm>
          <a:prstGeom prst="rect">
            <a:avLst/>
          </a:prstGeom>
          <a:noFill/>
          <a:ln/>
        </p:spPr>
        <p:txBody>
          <a:bodyPr wrap="square" lIns="0" tIns="0" rIns="0" bIns="0" rtlCol="0" anchor="ctr"/>
          <a:lstStyle/>
          <a:p>
            <a:pPr indent="0" marL="0">
              <a:buNone/>
            </a:pPr>
            <a:r>
              <a:rPr lang="en-US" sz="1270" b="1" u="sng" dirty="0">
                <a:solidFill>
                  <a:srgbClr val="76ACFF"/>
                </a:solidFill>
                <a:hlinkClick r:id="rId1" invalidUrl="" action="" tgtFrame="" tooltip="" history="1" highlightClick="0" endSnd="0">
                  <a:extLst>
                    <a:ext uri="{A12FA001-AC4F-418D-AE19-62706E023703}">
                      <ahyp:hlinkClr xmlns:ahyp="http://schemas.microsoft.com/office/drawing/2018/hyperlinkcolor" val="tx"/>
                    </a:ext>
                  </a:extLst>
                </a:hlinkClick>
              </a:rPr>
              <a:t>SOURCE REPOSITORY ↗</a:t>
            </a:r>
            <a:endParaRPr lang="en-US" sz="1270" dirty="0"/>
          </a:p>
        </p:txBody>
      </p:sp>
      <p:sp>
        <p:nvSpPr>
          <p:cNvPr id="27" name="Text 25"/>
          <p:cNvSpPr/>
          <p:nvPr/>
        </p:nvSpPr>
        <p:spPr>
          <a:xfrm>
            <a:off x="548640" y="6208776"/>
            <a:ext cx="10972800" cy="228600"/>
          </a:xfrm>
          <a:prstGeom prst="rect">
            <a:avLst/>
          </a:prstGeom>
          <a:noFill/>
          <a:ln/>
        </p:spPr>
        <p:txBody>
          <a:bodyPr wrap="square" lIns="0" tIns="0" rIns="0" bIns="0" rtlCol="0" anchor="ctr">
            <a:normAutofit/>
          </a:bodyPr>
          <a:lstStyle/>
          <a:p>
            <a:pPr indent="0" marL="0">
              <a:buNone/>
            </a:pPr>
            <a:r>
              <a:rPr lang="en-US" sz="940" dirty="0">
                <a:solidFill>
                  <a:srgbClr val="71849C"/>
                </a:solidFill>
                <a:latin typeface="Aptos" pitchFamily="34" charset="0"/>
                <a:ea typeface="Aptos" pitchFamily="34" charset="-122"/>
                <a:cs typeface="Aptos" pitchFamily="34" charset="-120"/>
              </a:rPr>
              <a:t>Demo uses synthetic client-preference changes; the same method applies to other authorised AI workflows.</a:t>
            </a:r>
            <a:endParaRPr lang="en-US" sz="9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06</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Before: you trust it. After: you can test it.</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The goal is a clear engineering decision, not just a score on a chart.</a:t>
            </a:r>
            <a:endParaRPr lang="en-US" sz="1500" dirty="0"/>
          </a:p>
        </p:txBody>
      </p:sp>
      <p:sp>
        <p:nvSpPr>
          <p:cNvPr id="8" name="Shape 6"/>
          <p:cNvSpPr/>
          <p:nvPr/>
        </p:nvSpPr>
        <p:spPr>
          <a:xfrm>
            <a:off x="585216" y="1965960"/>
            <a:ext cx="5394960" cy="3364992"/>
          </a:xfrm>
          <a:prstGeom prst="roundRect">
            <a:avLst>
              <a:gd name="adj" fmla="val 4348"/>
            </a:avLst>
          </a:prstGeom>
          <a:solidFill>
            <a:srgbClr val="121E30"/>
          </a:solidFill>
          <a:ln w="10160">
            <a:solidFill>
              <a:srgbClr val="2C4058"/>
            </a:solidFill>
            <a:prstDash val="solid"/>
          </a:ln>
        </p:spPr>
        <p:txBody>
          <a:bodyPr/>
          <a:p/>
        </p:txBody>
      </p:sp>
      <p:sp>
        <p:nvSpPr>
          <p:cNvPr id="9" name="Shape 7"/>
          <p:cNvSpPr/>
          <p:nvPr/>
        </p:nvSpPr>
        <p:spPr>
          <a:xfrm>
            <a:off x="832104" y="2194560"/>
            <a:ext cx="3108960" cy="347472"/>
          </a:xfrm>
          <a:prstGeom prst="roundRect">
            <a:avLst>
              <a:gd name="adj" fmla="val 42105"/>
            </a:avLst>
          </a:prstGeom>
          <a:solidFill>
            <a:srgbClr val="19273A"/>
          </a:solidFill>
          <a:ln w="10160">
            <a:solidFill>
              <a:srgbClr val="2C4058"/>
            </a:solidFill>
            <a:prstDash val="solid"/>
          </a:ln>
        </p:spPr>
        <p:txBody>
          <a:bodyPr/>
          <a:p/>
        </p:txBody>
      </p:sp>
      <p:sp>
        <p:nvSpPr>
          <p:cNvPr id="10" name="Text 8"/>
          <p:cNvSpPr/>
          <p:nvPr/>
        </p:nvSpPr>
        <p:spPr>
          <a:xfrm>
            <a:off x="950976" y="2267712"/>
            <a:ext cx="2880360" cy="182880"/>
          </a:xfrm>
          <a:prstGeom prst="rect">
            <a:avLst/>
          </a:prstGeom>
          <a:noFill/>
          <a:ln/>
        </p:spPr>
        <p:txBody>
          <a:bodyPr wrap="square" lIns="0" tIns="0" rIns="0" bIns="0" rtlCol="0" anchor="ctr">
            <a:normAutofit/>
          </a:bodyPr>
          <a:lstStyle/>
          <a:p>
            <a:pPr indent="0" marL="0">
              <a:buNone/>
            </a:pPr>
            <a:r>
              <a:rPr lang="en-US" sz="1020" b="1" spc="65" kern="0" dirty="0">
                <a:solidFill>
                  <a:srgbClr val="FF7185"/>
                </a:solidFill>
                <a:latin typeface="Aptos" pitchFamily="34" charset="0"/>
                <a:ea typeface="Aptos" pitchFamily="34" charset="-122"/>
                <a:cs typeface="Aptos" pitchFamily="34" charset="-120"/>
              </a:rPr>
              <a:t>WITHOUT A MEMORY CHECK</a:t>
            </a:r>
            <a:endParaRPr lang="en-US" sz="1020" dirty="0"/>
          </a:p>
        </p:txBody>
      </p:sp>
      <p:sp>
        <p:nvSpPr>
          <p:cNvPr id="11" name="Text 9"/>
          <p:cNvSpPr/>
          <p:nvPr/>
        </p:nvSpPr>
        <p:spPr>
          <a:xfrm>
            <a:off x="859536" y="2706624"/>
            <a:ext cx="4956048" cy="914400"/>
          </a:xfrm>
          <a:prstGeom prst="rect">
            <a:avLst/>
          </a:prstGeom>
          <a:noFill/>
          <a:ln/>
        </p:spPr>
        <p:txBody>
          <a:bodyPr wrap="square" lIns="0" tIns="0" rIns="0" bIns="0" rtlCol="0" anchor="ctr">
            <a:normAutofit/>
          </a:bodyPr>
          <a:lstStyle/>
          <a:p>
            <a:pPr indent="0" marL="0">
              <a:buNone/>
            </a:pPr>
            <a:r>
              <a:rPr lang="en-US" sz="2500" b="1" dirty="0">
                <a:solidFill>
                  <a:srgbClr val="F5F8FC"/>
                </a:solidFill>
                <a:latin typeface="Aptos" pitchFamily="34" charset="0"/>
                <a:ea typeface="Aptos" pitchFamily="34" charset="-122"/>
                <a:cs typeface="Aptos" pitchFamily="34" charset="-120"/>
              </a:rPr>
              <a:t>“Yes — that suits your crypto-heavy profile.”</a:t>
            </a:r>
            <a:endParaRPr lang="en-US" sz="2500" dirty="0"/>
          </a:p>
        </p:txBody>
      </p:sp>
      <p:sp>
        <p:nvSpPr>
          <p:cNvPr id="12" name="Text 10"/>
          <p:cNvSpPr/>
          <p:nvPr/>
        </p:nvSpPr>
        <p:spPr>
          <a:xfrm>
            <a:off x="859536" y="3694176"/>
            <a:ext cx="4690872" cy="1307592"/>
          </a:xfrm>
          <a:prstGeom prst="rect">
            <a:avLst/>
          </a:prstGeom>
          <a:noFill/>
          <a:ln/>
        </p:spPr>
        <p:txBody>
          <a:bodyPr wrap="square" lIns="0" tIns="0" rIns="0" bIns="0" rtlCol="0" anchor="t">
            <a:normAutofit/>
          </a:bodyPr>
          <a:lstStyle/>
          <a:p>
            <a:pPr indent="0" marL="0">
              <a:buNone/>
            </a:pPr>
            <a:r>
              <a:rPr lang="en-US" sz="1700" dirty="0">
                <a:solidFill>
                  <a:srgbClr val="A2B4C9"/>
                </a:solidFill>
                <a:latin typeface="Aptos" pitchFamily="34" charset="0"/>
                <a:ea typeface="Aptos" pitchFamily="34" charset="-122"/>
                <a:cs typeface="Aptos" pitchFamily="34" charset="-120"/>
              </a:rPr>
              <a:t>Sounds right, cites the file</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No systematic update test</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Failure discovered late</a:t>
            </a:r>
            <a:endParaRPr lang="en-US" sz="1700" dirty="0"/>
          </a:p>
        </p:txBody>
      </p:sp>
      <p:sp>
        <p:nvSpPr>
          <p:cNvPr id="13" name="Shape 11"/>
          <p:cNvSpPr/>
          <p:nvPr/>
        </p:nvSpPr>
        <p:spPr>
          <a:xfrm>
            <a:off x="6163056" y="1965960"/>
            <a:ext cx="5413248" cy="3364992"/>
          </a:xfrm>
          <a:prstGeom prst="roundRect">
            <a:avLst>
              <a:gd name="adj" fmla="val 4348"/>
            </a:avLst>
          </a:prstGeom>
          <a:solidFill>
            <a:srgbClr val="121E30"/>
          </a:solidFill>
          <a:ln w="10160">
            <a:solidFill>
              <a:srgbClr val="2C4058"/>
            </a:solidFill>
            <a:prstDash val="solid"/>
          </a:ln>
        </p:spPr>
        <p:txBody>
          <a:bodyPr/>
          <a:p/>
        </p:txBody>
      </p:sp>
      <p:sp>
        <p:nvSpPr>
          <p:cNvPr id="14" name="Shape 12"/>
          <p:cNvSpPr/>
          <p:nvPr/>
        </p:nvSpPr>
        <p:spPr>
          <a:xfrm>
            <a:off x="6419088" y="2194560"/>
            <a:ext cx="2157984" cy="347472"/>
          </a:xfrm>
          <a:prstGeom prst="roundRect">
            <a:avLst>
              <a:gd name="adj" fmla="val 42105"/>
            </a:avLst>
          </a:prstGeom>
          <a:solidFill>
            <a:srgbClr val="19273A"/>
          </a:solidFill>
          <a:ln w="10160">
            <a:solidFill>
              <a:srgbClr val="2C4058"/>
            </a:solidFill>
            <a:prstDash val="solid"/>
          </a:ln>
        </p:spPr>
        <p:txBody>
          <a:bodyPr/>
          <a:p/>
        </p:txBody>
      </p:sp>
      <p:sp>
        <p:nvSpPr>
          <p:cNvPr id="15" name="Text 13"/>
          <p:cNvSpPr/>
          <p:nvPr/>
        </p:nvSpPr>
        <p:spPr>
          <a:xfrm>
            <a:off x="6537960" y="2267712"/>
            <a:ext cx="1929384"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WITH REGWATCH</a:t>
            </a:r>
            <a:endParaRPr lang="en-US" sz="1020" dirty="0"/>
          </a:p>
        </p:txBody>
      </p:sp>
      <p:sp>
        <p:nvSpPr>
          <p:cNvPr id="16" name="Text 14"/>
          <p:cNvSpPr/>
          <p:nvPr/>
        </p:nvSpPr>
        <p:spPr>
          <a:xfrm>
            <a:off x="6419088" y="2770632"/>
            <a:ext cx="4873752" cy="649224"/>
          </a:xfrm>
          <a:prstGeom prst="rect">
            <a:avLst/>
          </a:prstGeom>
          <a:noFill/>
          <a:ln/>
        </p:spPr>
        <p:txBody>
          <a:bodyPr wrap="square" lIns="0" tIns="0" rIns="0" bIns="0" rtlCol="0" anchor="ctr">
            <a:normAutofit/>
          </a:bodyPr>
          <a:lstStyle/>
          <a:p>
            <a:pPr indent="0" marL="0">
              <a:buNone/>
            </a:pPr>
            <a:r>
              <a:rPr lang="en-US" sz="2250" b="1" dirty="0">
                <a:solidFill>
                  <a:srgbClr val="51E1C2"/>
                </a:solidFill>
                <a:latin typeface="Aptos" pitchFamily="34" charset="0"/>
                <a:ea typeface="Aptos" pitchFamily="34" charset="-122"/>
                <a:cs typeface="Aptos" pitchFamily="34" charset="-120"/>
              </a:rPr>
              <a:t>FLAG  →  EVIDENCE  →  RETEST</a:t>
            </a:r>
            <a:endParaRPr lang="en-US" sz="2250" dirty="0"/>
          </a:p>
        </p:txBody>
      </p:sp>
      <p:sp>
        <p:nvSpPr>
          <p:cNvPr id="17" name="Text 15"/>
          <p:cNvSpPr/>
          <p:nvPr/>
        </p:nvSpPr>
        <p:spPr>
          <a:xfrm>
            <a:off x="6437376" y="3703320"/>
            <a:ext cx="4663440" cy="1307592"/>
          </a:xfrm>
          <a:prstGeom prst="rect">
            <a:avLst/>
          </a:prstGeom>
          <a:noFill/>
          <a:ln/>
        </p:spPr>
        <p:txBody>
          <a:bodyPr wrap="square" lIns="0" tIns="0" rIns="0" bIns="0" rtlCol="0" anchor="t">
            <a:normAutofit/>
          </a:bodyPr>
          <a:lstStyle/>
          <a:p>
            <a:pPr indent="0" marL="0">
              <a:buNone/>
            </a:pPr>
            <a:r>
              <a:rPr lang="en-US" sz="1700" dirty="0">
                <a:solidFill>
                  <a:srgbClr val="A2B4C9"/>
                </a:solidFill>
                <a:latin typeface="Aptos" pitchFamily="34" charset="0"/>
                <a:ea typeface="Aptos" pitchFamily="34" charset="-122"/>
                <a:cs typeface="Aptos" pitchFamily="34" charset="-120"/>
              </a:rPr>
              <a:t>Wrong answer is identified</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Old and applicable facts shown</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Owner can investigate the cause</a:t>
            </a:r>
            <a:endParaRPr lang="en-US" sz="1700" dirty="0"/>
          </a:p>
        </p:txBody>
      </p:sp>
      <p:sp>
        <p:nvSpPr>
          <p:cNvPr id="18" name="Shape 16"/>
          <p:cNvSpPr/>
          <p:nvPr/>
        </p:nvSpPr>
        <p:spPr>
          <a:xfrm>
            <a:off x="1280160" y="5650992"/>
            <a:ext cx="9646920" cy="393192"/>
          </a:xfrm>
          <a:prstGeom prst="roundRect">
            <a:avLst>
              <a:gd name="adj" fmla="val 37209"/>
            </a:avLst>
          </a:prstGeom>
          <a:solidFill>
            <a:srgbClr val="0E1A2B"/>
          </a:solidFill>
          <a:ln w="10160">
            <a:solidFill>
              <a:srgbClr val="2C4058"/>
            </a:solidFill>
            <a:prstDash val="solid"/>
          </a:ln>
        </p:spPr>
        <p:txBody>
          <a:bodyPr/>
          <a:p/>
        </p:txBody>
      </p:sp>
      <p:sp>
        <p:nvSpPr>
          <p:cNvPr id="19" name="Text 17"/>
          <p:cNvSpPr/>
          <p:nvPr/>
        </p:nvSpPr>
        <p:spPr>
          <a:xfrm>
            <a:off x="1527048" y="5742432"/>
            <a:ext cx="9144000" cy="182880"/>
          </a:xfrm>
          <a:prstGeom prst="rect">
            <a:avLst/>
          </a:prstGeom>
          <a:noFill/>
          <a:ln/>
        </p:spPr>
        <p:txBody>
          <a:bodyPr wrap="square" lIns="0" tIns="0" rIns="0" bIns="0" rtlCol="0" anchor="ctr">
            <a:normAutofit/>
          </a:bodyPr>
          <a:lstStyle/>
          <a:p>
            <a:pPr algn="ctr" indent="0" marL="0">
              <a:buNone/>
            </a:pPr>
            <a:r>
              <a:rPr lang="en-US" sz="1180" dirty="0">
                <a:solidFill>
                  <a:srgbClr val="A2B4C9"/>
                </a:solidFill>
                <a:latin typeface="Aptos" pitchFamily="34" charset="0"/>
                <a:ea typeface="Aptos" pitchFamily="34" charset="-122"/>
                <a:cs typeface="Aptos" pitchFamily="34" charset="-120"/>
              </a:rPr>
              <a:t>Now: measurable failures and comparison  •  Later: suggested fixes and optional release gates</a:t>
            </a:r>
            <a:endParaRPr lang="en-US" sz="11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07</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What we measured: the memory layer moves accuracy 64 points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100 dated questions  ·  3 memory layers  ·  300 live answers  ·  Claude Opus, one system prompt, scored by code.</a:t>
            </a:r>
          </a:p>
        </p:txBody>
      </p:sp>
      <p:sp>
        <p:nvSpPr>
          <p:cNvPr id="8" name="Rounded Rectangle 7"/>
          <p:cNvSpPr/>
          <p:nvPr/>
        </p:nvSpPr>
        <p:spPr>
          <a:xfrm>
            <a:off x="594360" y="1901952"/>
            <a:ext cx="6876288" cy="3639312"/>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2157984"/>
            <a:ext cx="2377440" cy="201168"/>
          </a:xfrm>
          <a:prstGeom prst="rect">
            <a:avLst/>
          </a:prstGeom>
          <a:noFill/>
        </p:spPr>
        <p:txBody>
          <a:bodyPr wrap="square" lIns="0" rIns="0" tIns="0" bIns="0" anchor="t">
            <a:spAutoFit/>
          </a:bodyPr>
          <a:lstStyle/>
          <a:p>
            <a:pPr algn="l"/>
            <a:r>
              <a:rPr sz="880" b="1" spc="65">
                <a:solidFill>
                  <a:srgbClr val="71849C"/>
                </a:solidFill>
                <a:latin typeface="Aptos"/>
              </a:rPr>
              <a:t>MEMORY LAYER</a:t>
            </a:r>
          </a:p>
        </p:txBody>
      </p:sp>
      <p:sp>
        <p:nvSpPr>
          <p:cNvPr id="10" name="TextBox 9"/>
          <p:cNvSpPr txBox="1"/>
          <p:nvPr/>
        </p:nvSpPr>
        <p:spPr>
          <a:xfrm>
            <a:off x="3419856" y="2157984"/>
            <a:ext cx="1078992" cy="201168"/>
          </a:xfrm>
          <a:prstGeom prst="rect">
            <a:avLst/>
          </a:prstGeom>
          <a:noFill/>
        </p:spPr>
        <p:txBody>
          <a:bodyPr wrap="square" lIns="0" rIns="0" tIns="0" bIns="0" anchor="t">
            <a:spAutoFit/>
          </a:bodyPr>
          <a:lstStyle/>
          <a:p>
            <a:pPr algn="r"/>
            <a:r>
              <a:rPr sz="880" b="1" spc="65">
                <a:solidFill>
                  <a:srgbClr val="71849C"/>
                </a:solidFill>
                <a:latin typeface="Aptos"/>
              </a:rPr>
              <a:t>CORRECT</a:t>
            </a:r>
          </a:p>
        </p:txBody>
      </p:sp>
      <p:sp>
        <p:nvSpPr>
          <p:cNvPr id="11" name="TextBox 10"/>
          <p:cNvSpPr txBox="1"/>
          <p:nvPr/>
        </p:nvSpPr>
        <p:spPr>
          <a:xfrm>
            <a:off x="4626864" y="2157984"/>
            <a:ext cx="1444752" cy="201168"/>
          </a:xfrm>
          <a:prstGeom prst="rect">
            <a:avLst/>
          </a:prstGeom>
          <a:noFill/>
        </p:spPr>
        <p:txBody>
          <a:bodyPr wrap="square" lIns="0" rIns="0" tIns="0" bIns="0" anchor="t">
            <a:spAutoFit/>
          </a:bodyPr>
          <a:lstStyle/>
          <a:p>
            <a:pPr algn="r"/>
            <a:r>
              <a:rPr sz="880" b="1" spc="65">
                <a:solidFill>
                  <a:srgbClr val="71849C"/>
                </a:solidFill>
                <a:latin typeface="Aptos"/>
              </a:rPr>
              <a:t>COULDN'T ANSWER</a:t>
            </a:r>
          </a:p>
        </p:txBody>
      </p:sp>
      <p:sp>
        <p:nvSpPr>
          <p:cNvPr id="12" name="TextBox 11"/>
          <p:cNvSpPr txBox="1"/>
          <p:nvPr/>
        </p:nvSpPr>
        <p:spPr>
          <a:xfrm>
            <a:off x="6181344" y="2157984"/>
            <a:ext cx="1188720" cy="201168"/>
          </a:xfrm>
          <a:prstGeom prst="rect">
            <a:avLst/>
          </a:prstGeom>
          <a:noFill/>
        </p:spPr>
        <p:txBody>
          <a:bodyPr wrap="square" lIns="0" rIns="0" tIns="0" bIns="0" anchor="t">
            <a:spAutoFit/>
          </a:bodyPr>
          <a:lstStyle/>
          <a:p>
            <a:pPr algn="r"/>
            <a:r>
              <a:rPr sz="880" b="1" spc="65">
                <a:solidFill>
                  <a:srgbClr val="71849C"/>
                </a:solidFill>
                <a:latin typeface="Aptos"/>
              </a:rPr>
              <a:t>TOKENS / QUERY</a:t>
            </a:r>
          </a:p>
        </p:txBody>
      </p:sp>
      <p:sp>
        <p:nvSpPr>
          <p:cNvPr id="13" name="Rectangle 12"/>
          <p:cNvSpPr/>
          <p:nvPr/>
        </p:nvSpPr>
        <p:spPr>
          <a:xfrm>
            <a:off x="914400" y="2487168"/>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61488"/>
            <a:ext cx="2377440" cy="274320"/>
          </a:xfrm>
          <a:prstGeom prst="rect">
            <a:avLst/>
          </a:prstGeom>
          <a:noFill/>
        </p:spPr>
        <p:txBody>
          <a:bodyPr wrap="square" lIns="0" rIns="0" tIns="0" bIns="0" anchor="t">
            <a:spAutoFit/>
          </a:bodyPr>
          <a:lstStyle/>
          <a:p>
            <a:r>
              <a:rPr sz="1550" b="1">
                <a:solidFill>
                  <a:srgbClr val="F5F8FC"/>
                </a:solidFill>
                <a:latin typeface="Aptos"/>
              </a:rPr>
              <a:t>Keep everything</a:t>
            </a:r>
          </a:p>
        </p:txBody>
      </p:sp>
      <p:sp>
        <p:nvSpPr>
          <p:cNvPr id="15" name="TextBox 14"/>
          <p:cNvSpPr txBox="1"/>
          <p:nvPr/>
        </p:nvSpPr>
        <p:spPr>
          <a:xfrm>
            <a:off x="3419856" y="2670048"/>
            <a:ext cx="1078992" cy="384048"/>
          </a:xfrm>
          <a:prstGeom prst="rect">
            <a:avLst/>
          </a:prstGeom>
          <a:noFill/>
        </p:spPr>
        <p:txBody>
          <a:bodyPr wrap="square" lIns="0" rIns="0" tIns="0" bIns="0" anchor="t">
            <a:spAutoFit/>
          </a:bodyPr>
          <a:lstStyle/>
          <a:p>
            <a:pPr algn="r"/>
            <a:r>
              <a:rPr sz="2500" b="1">
                <a:solidFill>
                  <a:srgbClr val="F5F8FC"/>
                </a:solidFill>
                <a:latin typeface="Aptos Display"/>
              </a:rPr>
              <a:t>88</a:t>
            </a:r>
            <a:r>
              <a:rPr sz="1200" b="0">
                <a:solidFill>
                  <a:srgbClr val="71849C"/>
                </a:solidFill>
                <a:latin typeface="Aptos"/>
              </a:rPr>
              <a:t> /100</a:t>
            </a:r>
          </a:p>
        </p:txBody>
      </p:sp>
      <p:sp>
        <p:nvSpPr>
          <p:cNvPr id="16" name="TextBox 15"/>
          <p:cNvSpPr txBox="1"/>
          <p:nvPr/>
        </p:nvSpPr>
        <p:spPr>
          <a:xfrm>
            <a:off x="4626864" y="2743200"/>
            <a:ext cx="1444752" cy="292608"/>
          </a:xfrm>
          <a:prstGeom prst="rect">
            <a:avLst/>
          </a:prstGeom>
          <a:noFill/>
        </p:spPr>
        <p:txBody>
          <a:bodyPr wrap="square" lIns="0" rIns="0" tIns="0" bIns="0" anchor="t">
            <a:spAutoFit/>
          </a:bodyPr>
          <a:lstStyle/>
          <a:p>
            <a:pPr algn="r"/>
            <a:r>
              <a:rPr sz="1700" b="0">
                <a:solidFill>
                  <a:srgbClr val="A2B4C9"/>
                </a:solidFill>
                <a:latin typeface="Aptos Display"/>
              </a:rPr>
              <a:t>0</a:t>
            </a:r>
          </a:p>
        </p:txBody>
      </p:sp>
      <p:sp>
        <p:nvSpPr>
          <p:cNvPr id="17" name="TextBox 16"/>
          <p:cNvSpPr txBox="1"/>
          <p:nvPr/>
        </p:nvSpPr>
        <p:spPr>
          <a:xfrm>
            <a:off x="6181344" y="2743200"/>
            <a:ext cx="1188720" cy="292608"/>
          </a:xfrm>
          <a:prstGeom prst="rect">
            <a:avLst/>
          </a:prstGeom>
          <a:noFill/>
        </p:spPr>
        <p:txBody>
          <a:bodyPr wrap="square" lIns="0" rIns="0" tIns="0" bIns="0" anchor="t">
            <a:spAutoFit/>
          </a:bodyPr>
          <a:lstStyle/>
          <a:p>
            <a:pPr algn="r"/>
            <a:r>
              <a:rPr sz="1700" b="0">
                <a:solidFill>
                  <a:srgbClr val="A2B4C9"/>
                </a:solidFill>
                <a:latin typeface="Aptos Display"/>
              </a:rPr>
              <a:t>1,086</a:t>
            </a:r>
          </a:p>
        </p:txBody>
      </p:sp>
      <p:sp>
        <p:nvSpPr>
          <p:cNvPr id="18" name="Rectangle 17"/>
          <p:cNvSpPr/>
          <p:nvPr/>
        </p:nvSpPr>
        <p:spPr>
          <a:xfrm>
            <a:off x="914400" y="3255263"/>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419856"/>
            <a:ext cx="2377440" cy="274320"/>
          </a:xfrm>
          <a:prstGeom prst="rect">
            <a:avLst/>
          </a:prstGeom>
          <a:noFill/>
        </p:spPr>
        <p:txBody>
          <a:bodyPr wrap="square" lIns="0" rIns="0" tIns="0" bIns="0" anchor="t">
            <a:spAutoFit/>
          </a:bodyPr>
          <a:lstStyle/>
          <a:p>
            <a:r>
              <a:rPr sz="1550" b="1">
                <a:solidFill>
                  <a:srgbClr val="51E1C2"/>
                </a:solidFill>
                <a:latin typeface="Aptos"/>
              </a:rPr>
              <a:t>Latest-per-key reducer</a:t>
            </a:r>
          </a:p>
        </p:txBody>
      </p:sp>
      <p:sp>
        <p:nvSpPr>
          <p:cNvPr id="20" name="TextBox 19"/>
          <p:cNvSpPr txBox="1"/>
          <p:nvPr/>
        </p:nvSpPr>
        <p:spPr>
          <a:xfrm>
            <a:off x="3419856" y="3328415"/>
            <a:ext cx="1078992" cy="384048"/>
          </a:xfrm>
          <a:prstGeom prst="rect">
            <a:avLst/>
          </a:prstGeom>
          <a:noFill/>
        </p:spPr>
        <p:txBody>
          <a:bodyPr wrap="square" lIns="0" rIns="0" tIns="0" bIns="0" anchor="t">
            <a:spAutoFit/>
          </a:bodyPr>
          <a:lstStyle/>
          <a:p>
            <a:pPr algn="r"/>
            <a:r>
              <a:rPr sz="2500" b="1">
                <a:solidFill>
                  <a:srgbClr val="51E1C2"/>
                </a:solidFill>
                <a:latin typeface="Aptos Display"/>
              </a:rPr>
              <a:t>86</a:t>
            </a:r>
            <a:r>
              <a:rPr sz="1200" b="0">
                <a:solidFill>
                  <a:srgbClr val="71849C"/>
                </a:solidFill>
                <a:latin typeface="Aptos"/>
              </a:rPr>
              <a:t> /100</a:t>
            </a:r>
          </a:p>
        </p:txBody>
      </p:sp>
      <p:sp>
        <p:nvSpPr>
          <p:cNvPr id="21" name="TextBox 20"/>
          <p:cNvSpPr txBox="1"/>
          <p:nvPr/>
        </p:nvSpPr>
        <p:spPr>
          <a:xfrm>
            <a:off x="4626864" y="3401568"/>
            <a:ext cx="1444752" cy="292608"/>
          </a:xfrm>
          <a:prstGeom prst="rect">
            <a:avLst/>
          </a:prstGeom>
          <a:noFill/>
        </p:spPr>
        <p:txBody>
          <a:bodyPr wrap="square" lIns="0" rIns="0" tIns="0" bIns="0" anchor="t">
            <a:spAutoFit/>
          </a:bodyPr>
          <a:lstStyle/>
          <a:p>
            <a:pPr algn="r"/>
            <a:r>
              <a:rPr sz="1700" b="0">
                <a:solidFill>
                  <a:srgbClr val="A2B4C9"/>
                </a:solidFill>
                <a:latin typeface="Aptos Display"/>
              </a:rPr>
              <a:t>5</a:t>
            </a:r>
          </a:p>
        </p:txBody>
      </p:sp>
      <p:sp>
        <p:nvSpPr>
          <p:cNvPr id="22" name="TextBox 21"/>
          <p:cNvSpPr txBox="1"/>
          <p:nvPr/>
        </p:nvSpPr>
        <p:spPr>
          <a:xfrm>
            <a:off x="6181344" y="3401568"/>
            <a:ext cx="1188720" cy="292608"/>
          </a:xfrm>
          <a:prstGeom prst="rect">
            <a:avLst/>
          </a:prstGeom>
          <a:noFill/>
        </p:spPr>
        <p:txBody>
          <a:bodyPr wrap="square" lIns="0" rIns="0" tIns="0" bIns="0" anchor="t">
            <a:spAutoFit/>
          </a:bodyPr>
          <a:lstStyle/>
          <a:p>
            <a:pPr algn="r"/>
            <a:r>
              <a:rPr sz="1700" b="0">
                <a:solidFill>
                  <a:srgbClr val="A2B4C9"/>
                </a:solidFill>
                <a:latin typeface="Aptos Display"/>
              </a:rPr>
              <a:t>480</a:t>
            </a:r>
          </a:p>
        </p:txBody>
      </p:sp>
      <p:sp>
        <p:nvSpPr>
          <p:cNvPr id="23" name="Rectangle 22"/>
          <p:cNvSpPr/>
          <p:nvPr/>
        </p:nvSpPr>
        <p:spPr>
          <a:xfrm>
            <a:off x="914400" y="3913631"/>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078223"/>
            <a:ext cx="2377440" cy="274320"/>
          </a:xfrm>
          <a:prstGeom prst="rect">
            <a:avLst/>
          </a:prstGeom>
          <a:noFill/>
        </p:spPr>
        <p:txBody>
          <a:bodyPr wrap="square" lIns="0" rIns="0" tIns="0" bIns="0" anchor="t">
            <a:spAutoFit/>
          </a:bodyPr>
          <a:lstStyle/>
          <a:p>
            <a:r>
              <a:rPr sz="1550" b="1">
                <a:solidFill>
                  <a:srgbClr val="FFB864"/>
                </a:solidFill>
                <a:latin typeface="Aptos"/>
              </a:rPr>
              <a:t>Trim to token budget</a:t>
            </a:r>
          </a:p>
        </p:txBody>
      </p:sp>
      <p:sp>
        <p:nvSpPr>
          <p:cNvPr id="25" name="TextBox 24"/>
          <p:cNvSpPr txBox="1"/>
          <p:nvPr/>
        </p:nvSpPr>
        <p:spPr>
          <a:xfrm>
            <a:off x="3419856" y="3986783"/>
            <a:ext cx="1078992" cy="384048"/>
          </a:xfrm>
          <a:prstGeom prst="rect">
            <a:avLst/>
          </a:prstGeom>
          <a:noFill/>
        </p:spPr>
        <p:txBody>
          <a:bodyPr wrap="square" lIns="0" rIns="0" tIns="0" bIns="0" anchor="t">
            <a:spAutoFit/>
          </a:bodyPr>
          <a:lstStyle/>
          <a:p>
            <a:pPr algn="r"/>
            <a:r>
              <a:rPr sz="2500" b="1">
                <a:solidFill>
                  <a:srgbClr val="FFB864"/>
                </a:solidFill>
                <a:latin typeface="Aptos Display"/>
              </a:rPr>
              <a:t>24</a:t>
            </a:r>
            <a:r>
              <a:rPr sz="1200" b="0">
                <a:solidFill>
                  <a:srgbClr val="71849C"/>
                </a:solidFill>
                <a:latin typeface="Aptos"/>
              </a:rPr>
              <a:t> /100</a:t>
            </a:r>
          </a:p>
        </p:txBody>
      </p:sp>
      <p:sp>
        <p:nvSpPr>
          <p:cNvPr id="26" name="TextBox 25"/>
          <p:cNvSpPr txBox="1"/>
          <p:nvPr/>
        </p:nvSpPr>
        <p:spPr>
          <a:xfrm>
            <a:off x="4626864" y="4059935"/>
            <a:ext cx="1444752" cy="292608"/>
          </a:xfrm>
          <a:prstGeom prst="rect">
            <a:avLst/>
          </a:prstGeom>
          <a:noFill/>
        </p:spPr>
        <p:txBody>
          <a:bodyPr wrap="square" lIns="0" rIns="0" tIns="0" bIns="0" anchor="t">
            <a:spAutoFit/>
          </a:bodyPr>
          <a:lstStyle/>
          <a:p>
            <a:pPr algn="r"/>
            <a:r>
              <a:rPr sz="1700" b="0">
                <a:solidFill>
                  <a:srgbClr val="A2B4C9"/>
                </a:solidFill>
                <a:latin typeface="Aptos Display"/>
              </a:rPr>
              <a:t>49</a:t>
            </a:r>
          </a:p>
        </p:txBody>
      </p:sp>
      <p:sp>
        <p:nvSpPr>
          <p:cNvPr id="27" name="TextBox 26"/>
          <p:cNvSpPr txBox="1"/>
          <p:nvPr/>
        </p:nvSpPr>
        <p:spPr>
          <a:xfrm>
            <a:off x="6181344" y="4059935"/>
            <a:ext cx="1188720" cy="292608"/>
          </a:xfrm>
          <a:prstGeom prst="rect">
            <a:avLst/>
          </a:prstGeom>
          <a:noFill/>
        </p:spPr>
        <p:txBody>
          <a:bodyPr wrap="square" lIns="0" rIns="0" tIns="0" bIns="0" anchor="t">
            <a:spAutoFit/>
          </a:bodyPr>
          <a:lstStyle/>
          <a:p>
            <a:pPr algn="r"/>
            <a:r>
              <a:rPr sz="1700" b="0">
                <a:solidFill>
                  <a:srgbClr val="A2B4C9"/>
                </a:solidFill>
                <a:latin typeface="Aptos Display"/>
              </a:rPr>
              <a:t>250</a:t>
            </a:r>
          </a:p>
        </p:txBody>
      </p:sp>
      <p:sp>
        <p:nvSpPr>
          <p:cNvPr id="28" name="Rectangle 27"/>
          <p:cNvSpPr/>
          <p:nvPr/>
        </p:nvSpPr>
        <p:spPr>
          <a:xfrm>
            <a:off x="914400" y="4571999"/>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700016"/>
            <a:ext cx="6455664" cy="731520"/>
          </a:xfrm>
          <a:prstGeom prst="rect">
            <a:avLst/>
          </a:prstGeom>
          <a:noFill/>
        </p:spPr>
        <p:txBody>
          <a:bodyPr wrap="square" lIns="0" rIns="0" tIns="0" bIns="0" anchor="t">
            <a:spAutoFit/>
          </a:bodyPr>
          <a:lstStyle/>
          <a:p>
            <a:pPr>
              <a:lnSpc>
                <a:spcPct val="130000"/>
              </a:lnSpc>
            </a:pPr>
            <a:r>
              <a:rPr sz="1400" b="0">
                <a:solidFill>
                  <a:srgbClr val="A2B4C9"/>
                </a:solidFill>
                <a:latin typeface="Aptos"/>
              </a:rPr>
              <a:t>The engineering decision:  </a:t>
            </a:r>
            <a:r>
              <a:rPr sz="1400" b="1">
                <a:solidFill>
                  <a:srgbClr val="51E1C2"/>
                </a:solidFill>
                <a:latin typeface="Aptos"/>
              </a:rPr>
              <a:t>44% of the tokens for 2 points of accuracy</a:t>
            </a:r>
            <a:r>
              <a:rPr sz="1400" b="0">
                <a:solidFill>
                  <a:srgbClr val="A2B4C9"/>
                </a:solidFill>
                <a:latin typeface="Aptos"/>
              </a:rPr>
              <a:t>  —  and the lowest cost per correct answer, $0.0044 against $0.0074. Trimming is cheapest per query and dearest per correct answer: $0.0207, 4.7× the reducer.</a:t>
            </a:r>
          </a:p>
        </p:txBody>
      </p:sp>
      <p:sp>
        <p:nvSpPr>
          <p:cNvPr id="30" name="Rounded Rectangle 29"/>
          <p:cNvSpPr/>
          <p:nvPr/>
        </p:nvSpPr>
        <p:spPr>
          <a:xfrm>
            <a:off x="7662672" y="1901952"/>
            <a:ext cx="3913632" cy="3639312"/>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7900416" y="2103120"/>
            <a:ext cx="3017520"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19288" y="2176272"/>
            <a:ext cx="2834640" cy="182880"/>
          </a:xfrm>
          <a:prstGeom prst="rect">
            <a:avLst/>
          </a:prstGeom>
          <a:noFill/>
        </p:spPr>
        <p:txBody>
          <a:bodyPr wrap="square" lIns="0" rIns="0" tIns="0" bIns="0" anchor="t">
            <a:spAutoFit/>
          </a:bodyPr>
          <a:lstStyle/>
          <a:p>
            <a:r>
              <a:rPr sz="900" b="1" spc="65">
                <a:solidFill>
                  <a:srgbClr val="FFB864"/>
                </a:solidFill>
                <a:latin typeface="Aptos"/>
              </a:rPr>
              <a:t>THE RESULT WE DIDN’T WANT</a:t>
            </a:r>
          </a:p>
        </p:txBody>
      </p:sp>
      <p:sp>
        <p:nvSpPr>
          <p:cNvPr id="33" name="TextBox 32"/>
          <p:cNvSpPr txBox="1"/>
          <p:nvPr/>
        </p:nvSpPr>
        <p:spPr>
          <a:xfrm>
            <a:off x="7900416" y="2670048"/>
            <a:ext cx="3438144" cy="1188720"/>
          </a:xfrm>
          <a:prstGeom prst="rect">
            <a:avLst/>
          </a:prstGeom>
          <a:noFill/>
        </p:spPr>
        <p:txBody>
          <a:bodyPr wrap="square" lIns="0" rIns="0" tIns="0" bIns="0" anchor="t">
            <a:spAutoFit/>
          </a:bodyPr>
          <a:lstStyle/>
          <a:p>
            <a:pPr>
              <a:lnSpc>
                <a:spcPct val="126000"/>
              </a:lnSpc>
            </a:pPr>
            <a:r>
              <a:rPr sz="1300" b="0">
                <a:solidFill>
                  <a:srgbClr val="A2B4C9"/>
                </a:solidFill>
                <a:latin typeface="Aptos"/>
              </a:rPr>
              <a:t>We expected stale facts to poison answers. So we deleted the one line telling the model to prefer recent facts, and re-ran all 300.</a:t>
            </a:r>
          </a:p>
        </p:txBody>
      </p:sp>
      <p:sp>
        <p:nvSpPr>
          <p:cNvPr id="34" name="Rectangle 33"/>
          <p:cNvSpPr/>
          <p:nvPr/>
        </p:nvSpPr>
        <p:spPr>
          <a:xfrm>
            <a:off x="7900416" y="3584448"/>
            <a:ext cx="3419856"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416" y="3749039"/>
            <a:ext cx="3438144" cy="420624"/>
          </a:xfrm>
          <a:prstGeom prst="rect">
            <a:avLst/>
          </a:prstGeom>
          <a:noFill/>
        </p:spPr>
        <p:txBody>
          <a:bodyPr wrap="square" lIns="0" rIns="0" tIns="0" bIns="0" anchor="t">
            <a:spAutoFit/>
          </a:bodyPr>
          <a:lstStyle/>
          <a:p>
            <a:r>
              <a:rPr sz="3000" b="1">
                <a:solidFill>
                  <a:srgbClr val="FFB864"/>
                </a:solidFill>
                <a:latin typeface="Aptos Display"/>
              </a:rPr>
              <a:t>12</a:t>
            </a:r>
            <a:r>
              <a:rPr sz="1300" b="0">
                <a:solidFill>
                  <a:srgbClr val="A2B4C9"/>
                </a:solidFill>
                <a:latin typeface="Aptos"/>
              </a:rPr>
              <a:t>  answers broke</a:t>
            </a:r>
          </a:p>
        </p:txBody>
      </p:sp>
      <p:sp>
        <p:nvSpPr>
          <p:cNvPr id="36" name="TextBox 35"/>
          <p:cNvSpPr txBox="1"/>
          <p:nvPr/>
        </p:nvSpPr>
        <p:spPr>
          <a:xfrm>
            <a:off x="7900416" y="4279392"/>
            <a:ext cx="3438144" cy="1005840"/>
          </a:xfrm>
          <a:prstGeom prst="rect">
            <a:avLst/>
          </a:prstGeom>
          <a:noFill/>
        </p:spPr>
        <p:txBody>
          <a:bodyPr wrap="square" lIns="0" rIns="0" tIns="0" bIns="0" anchor="t">
            <a:spAutoFit/>
          </a:bodyPr>
          <a:lstStyle/>
          <a:p>
            <a:pPr>
              <a:lnSpc>
                <a:spcPct val="126000"/>
              </a:lnSpc>
            </a:pPr>
            <a:r>
              <a:rPr sz="1250" b="1">
                <a:solidFill>
                  <a:srgbClr val="FFB864"/>
                </a:solidFill>
                <a:latin typeface="Aptos"/>
              </a:rPr>
              <a:t>None of them</a:t>
            </a:r>
            <a:r>
              <a:rPr sz="1250" b="0">
                <a:solidFill>
                  <a:srgbClr val="F5F8FC"/>
                </a:solidFill>
                <a:latin typeface="Aptos"/>
              </a:rPr>
              <a:t> had a stale fact in context — though 58 other answers did. Every loss landed on the layer that </a:t>
            </a:r>
            <a:r>
              <a:rPr sz="1250" b="1">
                <a:solidFill>
                  <a:srgbClr val="F5F8FC"/>
                </a:solidFill>
                <a:latin typeface="Aptos"/>
              </a:rPr>
              <a:t>drops</a:t>
            </a:r>
            <a:r>
              <a:rPr sz="1250" b="0">
                <a:solidFill>
                  <a:srgbClr val="F5F8FC"/>
                </a:solidFill>
                <a:latin typeface="Aptos"/>
              </a:rPr>
              <a:t> facts. It fails by forgetting.</a:t>
            </a:r>
          </a:p>
        </p:txBody>
      </p:sp>
      <p:sp>
        <p:nvSpPr>
          <p:cNvPr id="37" name="TextBox 36"/>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Logs: results/run_log.opus.jsonl and .recency-off.jsonl  ·  rerun with scripts/analyse_ab.py  ·  abstentions count as incorrect  ·  rates confirmed 2026-10-25 in config/pricing.yaml.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08</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Who uses RegWatch — and who benefits?</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Main track: Governance &amp; Compliance  •  Supporting: Explainability &amp; Transparency</a:t>
            </a:r>
            <a:endParaRPr lang="en-US" sz="1500" dirty="0"/>
          </a:p>
        </p:txBody>
      </p:sp>
      <p:sp>
        <p:nvSpPr>
          <p:cNvPr id="8" name="Shape 6"/>
          <p:cNvSpPr/>
          <p:nvPr/>
        </p:nvSpPr>
        <p:spPr>
          <a:xfrm>
            <a:off x="585216"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9" name="Shape 7"/>
          <p:cNvSpPr/>
          <p:nvPr/>
        </p:nvSpPr>
        <p:spPr>
          <a:xfrm>
            <a:off x="777240"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0" name="Text 8"/>
          <p:cNvSpPr/>
          <p:nvPr/>
        </p:nvSpPr>
        <p:spPr>
          <a:xfrm>
            <a:off x="896112"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AI ENGINEER</a:t>
            </a:r>
            <a:endParaRPr lang="en-US" sz="1020" dirty="0"/>
          </a:p>
        </p:txBody>
      </p:sp>
      <p:sp>
        <p:nvSpPr>
          <p:cNvPr id="11" name="Text 9"/>
          <p:cNvSpPr/>
          <p:nvPr/>
        </p:nvSpPr>
        <p:spPr>
          <a:xfrm>
            <a:off x="804672"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Test memory updates in assistants, retrieval apps and agents</a:t>
            </a:r>
            <a:endParaRPr lang="en-US" sz="1800" dirty="0"/>
          </a:p>
        </p:txBody>
      </p:sp>
      <p:sp>
        <p:nvSpPr>
          <p:cNvPr id="12" name="Shape 10"/>
          <p:cNvSpPr/>
          <p:nvPr/>
        </p:nvSpPr>
        <p:spPr>
          <a:xfrm>
            <a:off x="4370832"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13" name="Shape 11"/>
          <p:cNvSpPr/>
          <p:nvPr/>
        </p:nvSpPr>
        <p:spPr>
          <a:xfrm>
            <a:off x="4562856"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4" name="Text 12"/>
          <p:cNvSpPr/>
          <p:nvPr/>
        </p:nvSpPr>
        <p:spPr>
          <a:xfrm>
            <a:off x="4681728"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76ACFF"/>
                </a:solidFill>
                <a:latin typeface="Aptos" pitchFamily="34" charset="0"/>
                <a:ea typeface="Aptos" pitchFamily="34" charset="-122"/>
                <a:cs typeface="Aptos" pitchFamily="34" charset="-120"/>
              </a:rPr>
              <a:t>ASSURANCE TEAM</a:t>
            </a:r>
            <a:endParaRPr lang="en-US" sz="1020" dirty="0"/>
          </a:p>
        </p:txBody>
      </p:sp>
      <p:sp>
        <p:nvSpPr>
          <p:cNvPr id="15" name="Text 13"/>
          <p:cNvSpPr/>
          <p:nvPr/>
        </p:nvSpPr>
        <p:spPr>
          <a:xfrm>
            <a:off x="4590288"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Keep failure evidence and review high-risk changes before rollout</a:t>
            </a:r>
            <a:endParaRPr lang="en-US" sz="1800" dirty="0"/>
          </a:p>
        </p:txBody>
      </p:sp>
      <p:sp>
        <p:nvSpPr>
          <p:cNvPr id="16" name="Shape 14"/>
          <p:cNvSpPr/>
          <p:nvPr/>
        </p:nvSpPr>
        <p:spPr>
          <a:xfrm>
            <a:off x="8156448"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17" name="Shape 15"/>
          <p:cNvSpPr/>
          <p:nvPr/>
        </p:nvSpPr>
        <p:spPr>
          <a:xfrm>
            <a:off x="8348472"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8" name="Text 16"/>
          <p:cNvSpPr/>
          <p:nvPr/>
        </p:nvSpPr>
        <p:spPr>
          <a:xfrm>
            <a:off x="8467344"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FFB864"/>
                </a:solidFill>
                <a:latin typeface="Aptos" pitchFamily="34" charset="0"/>
                <a:ea typeface="Aptos" pitchFamily="34" charset="-122"/>
                <a:cs typeface="Aptos" pitchFamily="34" charset="-120"/>
              </a:rPr>
              <a:t>INDIVIDUAL  ·  NOT YET</a:t>
            </a:r>
            <a:endParaRPr lang="en-US" sz="1020" dirty="0"/>
          </a:p>
        </p:txBody>
      </p:sp>
      <p:sp>
        <p:nvSpPr>
          <p:cNvPr id="19" name="Text 17"/>
          <p:cNvSpPr/>
          <p:nvPr/>
        </p:nvSpPr>
        <p:spPr>
          <a:xfrm>
            <a:off x="8375904"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Eventually test an authorised personal agent or workflow</a:t>
            </a:r>
            <a:endParaRPr lang="en-US" sz="1800" dirty="0"/>
          </a:p>
        </p:txBody>
      </p:sp>
      <p:sp>
        <p:nvSpPr>
          <p:cNvPr id="20" name="Shape 18"/>
          <p:cNvSpPr/>
          <p:nvPr/>
        </p:nvSpPr>
        <p:spPr>
          <a:xfrm>
            <a:off x="585216" y="5102352"/>
            <a:ext cx="10981944" cy="777240"/>
          </a:xfrm>
          <a:prstGeom prst="roundRect">
            <a:avLst>
              <a:gd name="adj" fmla="val 18824"/>
            </a:avLst>
          </a:prstGeom>
          <a:solidFill>
            <a:srgbClr val="0E1A2B"/>
          </a:solidFill>
          <a:ln w="10160">
            <a:solidFill>
              <a:srgbClr val="2C4058"/>
            </a:solidFill>
            <a:prstDash val="solid"/>
          </a:ln>
        </p:spPr>
        <p:txBody>
          <a:bodyPr/>
          <a:p/>
        </p:txBody>
      </p:sp>
      <p:sp>
        <p:nvSpPr>
          <p:cNvPr id="21" name="Text 19"/>
          <p:cNvSpPr/>
          <p:nvPr/>
        </p:nvSpPr>
        <p:spPr>
          <a:xfrm>
            <a:off x="841248" y="5303520"/>
            <a:ext cx="10515600" cy="365760"/>
          </a:xfrm>
          <a:prstGeom prst="rect">
            <a:avLst/>
          </a:prstGeom>
          <a:noFill/>
          <a:ln/>
        </p:spPr>
        <p:txBody>
          <a:bodyPr wrap="square" lIns="0" tIns="0" rIns="0" bIns="0" rtlCol="0" anchor="ctr">
            <a:normAutofit/>
          </a:bodyPr>
          <a:lstStyle/>
          <a:p>
            <a:pPr algn="ctr" indent="0" marL="0">
              <a:buNone/>
            </a:pPr>
            <a:r>
              <a:rPr lang="en-US" sz="2100" b="1" dirty="0">
                <a:solidFill>
                  <a:srgbClr val="51E1C2"/>
                </a:solidFill>
                <a:latin typeface="Aptos" pitchFamily="34" charset="0"/>
                <a:ea typeface="Aptos" pitchFamily="34" charset="-122"/>
                <a:cs typeface="Aptos" pitchFamily="34" charset="-120"/>
              </a:rPr>
              <a:t>Test  →  Record evidence  →  Flag risk  →  Human review</a:t>
            </a:r>
            <a:endParaRPr lang="en-US" sz="2100" dirty="0"/>
          </a:p>
        </p:txBody>
      </p:sp>
      <p:sp>
        <p:nvSpPr>
          <p:cNvPr id="22" name="Text 20"/>
          <p:cNvSpPr/>
          <p:nvPr/>
        </p:nvSpPr>
        <p:spPr>
          <a:xfrm>
            <a:off x="548640" y="6208776"/>
            <a:ext cx="10972800" cy="228600"/>
          </a:xfrm>
          <a:prstGeom prst="rect">
            <a:avLst/>
          </a:prstGeom>
          <a:noFill/>
          <a:ln/>
        </p:spPr>
        <p:txBody>
          <a:bodyPr wrap="square" lIns="0" tIns="0" rIns="0" bIns="0" rtlCol="0" anchor="ctr">
            <a:normAutofit/>
          </a:bodyPr>
          <a:lstStyle/>
          <a:p>
            <a:pPr indent="0" marL="0">
              <a:buNone/>
            </a:pPr>
            <a:r>
              <a:rPr lang="en-US" sz="940" dirty="0">
                <a:solidFill>
                  <a:srgbClr val="71849C"/>
                </a:solidFill>
                <a:latin typeface="Aptos" pitchFamily="34" charset="0"/>
                <a:ea typeface="Aptos" pitchFamily="34" charset="-122"/>
                <a:cs typeface="Aptos" pitchFamily="34" charset="-120"/>
              </a:rPr>
              <a:t>Personal integration is future work. The prototype is an assurance tool, not a safety or compliance certification.</a:t>
            </a:r>
            <a:endParaRPr lang="en-US" sz="9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REGWATCH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09</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One assurance engine. Different ways to use it.</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From a controlled hackathon benchmark to integrations for teams and individuals.</a:t>
            </a:r>
            <a:endParaRPr lang="en-US" sz="1500" dirty="0"/>
          </a:p>
        </p:txBody>
      </p:sp>
      <p:sp>
        <p:nvSpPr>
          <p:cNvPr id="8" name="Shape 6"/>
          <p:cNvSpPr/>
          <p:nvPr/>
        </p:nvSpPr>
        <p:spPr>
          <a:xfrm>
            <a:off x="585216" y="2093976"/>
            <a:ext cx="3621024" cy="2532888"/>
          </a:xfrm>
          <a:prstGeom prst="roundRect">
            <a:avLst>
              <a:gd name="adj" fmla="val 5776"/>
            </a:avLst>
          </a:prstGeom>
          <a:solidFill>
            <a:srgbClr val="121E30"/>
          </a:solidFill>
          <a:ln w="10160">
            <a:solidFill>
              <a:srgbClr val="2C4058"/>
            </a:solidFill>
            <a:prstDash val="solid"/>
          </a:ln>
        </p:spPr>
      </p:sp>
      <p:sp>
        <p:nvSpPr>
          <p:cNvPr id="9" name="Shape 7"/>
          <p:cNvSpPr/>
          <p:nvPr/>
        </p:nvSpPr>
        <p:spPr>
          <a:xfrm>
            <a:off x="786384" y="2340864"/>
            <a:ext cx="1161288" cy="347472"/>
          </a:xfrm>
          <a:prstGeom prst="roundRect">
            <a:avLst>
              <a:gd name="adj" fmla="val 42105"/>
            </a:avLst>
          </a:prstGeom>
          <a:solidFill>
            <a:srgbClr val="19273A"/>
          </a:solidFill>
          <a:ln w="10160">
            <a:solidFill>
              <a:srgbClr val="2C4058"/>
            </a:solidFill>
            <a:prstDash val="solid"/>
          </a:ln>
        </p:spPr>
      </p:sp>
      <p:sp>
        <p:nvSpPr>
          <p:cNvPr id="10" name="Text 8"/>
          <p:cNvSpPr/>
          <p:nvPr/>
        </p:nvSpPr>
        <p:spPr>
          <a:xfrm>
            <a:off x="905256"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TODAY</a:t>
            </a:r>
            <a:endParaRPr lang="en-US" sz="1020" dirty="0"/>
          </a:p>
        </p:txBody>
      </p:sp>
      <p:sp>
        <p:nvSpPr>
          <p:cNvPr id="11" name="Text 9"/>
          <p:cNvSpPr/>
          <p:nvPr/>
        </p:nvSpPr>
        <p:spPr>
          <a:xfrm>
            <a:off x="786384"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Browser prototype</a:t>
            </a:r>
            <a:endParaRPr lang="en-US" sz="2100" dirty="0"/>
          </a:p>
        </p:txBody>
      </p:sp>
      <p:sp>
        <p:nvSpPr>
          <p:cNvPr id="12" name="Text 10"/>
          <p:cNvSpPr/>
          <p:nvPr/>
        </p:nvSpPr>
        <p:spPr>
          <a:xfrm>
            <a:off x="786384"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Synthetic histories, target questions, actual answers and evidence</a:t>
            </a:r>
            <a:endParaRPr lang="en-US" sz="1530" dirty="0"/>
          </a:p>
        </p:txBody>
      </p:sp>
      <p:sp>
        <p:nvSpPr>
          <p:cNvPr id="13" name="Shape 11"/>
          <p:cNvSpPr/>
          <p:nvPr/>
        </p:nvSpPr>
        <p:spPr>
          <a:xfrm>
            <a:off x="4370832" y="2093976"/>
            <a:ext cx="3621024" cy="2532888"/>
          </a:xfrm>
          <a:prstGeom prst="roundRect">
            <a:avLst>
              <a:gd name="adj" fmla="val 5776"/>
            </a:avLst>
          </a:prstGeom>
          <a:solidFill>
            <a:srgbClr val="121E30"/>
          </a:solidFill>
          <a:ln w="10160">
            <a:solidFill>
              <a:srgbClr val="2C4058"/>
            </a:solidFill>
            <a:prstDash val="solid"/>
          </a:ln>
        </p:spPr>
      </p:sp>
      <p:sp>
        <p:nvSpPr>
          <p:cNvPr id="14" name="Shape 12"/>
          <p:cNvSpPr/>
          <p:nvPr/>
        </p:nvSpPr>
        <p:spPr>
          <a:xfrm>
            <a:off x="4572000" y="2340864"/>
            <a:ext cx="1161288" cy="347472"/>
          </a:xfrm>
          <a:prstGeom prst="roundRect">
            <a:avLst>
              <a:gd name="adj" fmla="val 42105"/>
            </a:avLst>
          </a:prstGeom>
          <a:solidFill>
            <a:srgbClr val="19273A"/>
          </a:solidFill>
          <a:ln w="10160">
            <a:solidFill>
              <a:srgbClr val="2C4058"/>
            </a:solidFill>
            <a:prstDash val="solid"/>
          </a:ln>
        </p:spPr>
      </p:sp>
      <p:sp>
        <p:nvSpPr>
          <p:cNvPr id="15" name="Text 13"/>
          <p:cNvSpPr/>
          <p:nvPr/>
        </p:nvSpPr>
        <p:spPr>
          <a:xfrm>
            <a:off x="4690872"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76ACFF"/>
                </a:solidFill>
                <a:latin typeface="Aptos" pitchFamily="34" charset="0"/>
                <a:ea typeface="Aptos" pitchFamily="34" charset="-122"/>
                <a:cs typeface="Aptos" pitchFamily="34" charset="-120"/>
              </a:rPr>
              <a:t>NEXT</a:t>
            </a:r>
            <a:endParaRPr lang="en-US" sz="1020" dirty="0"/>
          </a:p>
        </p:txBody>
      </p:sp>
      <p:sp>
        <p:nvSpPr>
          <p:cNvPr id="16" name="Text 14"/>
          <p:cNvSpPr/>
          <p:nvPr/>
        </p:nvSpPr>
        <p:spPr>
          <a:xfrm>
            <a:off x="4572000"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Developer integration</a:t>
            </a:r>
            <a:endParaRPr lang="en-US" sz="2100" dirty="0"/>
          </a:p>
        </p:txBody>
      </p:sp>
      <p:sp>
        <p:nvSpPr>
          <p:cNvPr id="17" name="Text 15"/>
          <p:cNvSpPr/>
          <p:nvPr/>
        </p:nvSpPr>
        <p:spPr>
          <a:xfrm>
            <a:off x="4572000"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Python package / API / CI checks for team-owned AI workflows</a:t>
            </a:r>
            <a:endParaRPr lang="en-US" sz="1530" dirty="0"/>
          </a:p>
        </p:txBody>
      </p:sp>
      <p:sp>
        <p:nvSpPr>
          <p:cNvPr id="18" name="Shape 16"/>
          <p:cNvSpPr/>
          <p:nvPr/>
        </p:nvSpPr>
        <p:spPr>
          <a:xfrm>
            <a:off x="8156448" y="2093976"/>
            <a:ext cx="3621024" cy="2532888"/>
          </a:xfrm>
          <a:prstGeom prst="roundRect">
            <a:avLst>
              <a:gd name="adj" fmla="val 5776"/>
            </a:avLst>
          </a:prstGeom>
          <a:solidFill>
            <a:srgbClr val="121E30"/>
          </a:solidFill>
          <a:ln w="10160">
            <a:solidFill>
              <a:srgbClr val="2C4058"/>
            </a:solidFill>
            <a:prstDash val="solid"/>
          </a:ln>
        </p:spPr>
      </p:sp>
      <p:sp>
        <p:nvSpPr>
          <p:cNvPr id="19" name="Shape 17"/>
          <p:cNvSpPr/>
          <p:nvPr/>
        </p:nvSpPr>
        <p:spPr>
          <a:xfrm>
            <a:off x="8357616" y="2340864"/>
            <a:ext cx="1161288" cy="347472"/>
          </a:xfrm>
          <a:prstGeom prst="roundRect">
            <a:avLst>
              <a:gd name="adj" fmla="val 42105"/>
            </a:avLst>
          </a:prstGeom>
          <a:solidFill>
            <a:srgbClr val="19273A"/>
          </a:solidFill>
          <a:ln w="10160">
            <a:solidFill>
              <a:srgbClr val="2C4058"/>
            </a:solidFill>
            <a:prstDash val="solid"/>
          </a:ln>
        </p:spPr>
      </p:sp>
      <p:sp>
        <p:nvSpPr>
          <p:cNvPr id="20" name="Text 18"/>
          <p:cNvSpPr/>
          <p:nvPr/>
        </p:nvSpPr>
        <p:spPr>
          <a:xfrm>
            <a:off x="8476488"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FFB864"/>
                </a:solidFill>
                <a:latin typeface="Aptos" pitchFamily="34" charset="0"/>
                <a:ea typeface="Aptos" pitchFamily="34" charset="-122"/>
                <a:cs typeface="Aptos" pitchFamily="34" charset="-120"/>
              </a:rPr>
              <a:t>FUTURE</a:t>
            </a:r>
            <a:endParaRPr lang="en-US" sz="1020" dirty="0"/>
          </a:p>
        </p:txBody>
      </p:sp>
      <p:sp>
        <p:nvSpPr>
          <p:cNvPr id="21" name="Text 19"/>
          <p:cNvSpPr/>
          <p:nvPr/>
        </p:nvSpPr>
        <p:spPr>
          <a:xfrm>
            <a:off x="8357616"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Personal agent check</a:t>
            </a:r>
            <a:endParaRPr lang="en-US" sz="2100" dirty="0"/>
          </a:p>
        </p:txBody>
      </p:sp>
      <p:sp>
        <p:nvSpPr>
          <p:cNvPr id="22" name="Text 20"/>
          <p:cNvSpPr/>
          <p:nvPr/>
        </p:nvSpPr>
        <p:spPr>
          <a:xfrm>
            <a:off x="8357616"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Opt-in history import and checks for individual AI assistants</a:t>
            </a:r>
            <a:endParaRPr lang="en-US" sz="1530" dirty="0"/>
          </a:p>
        </p:txBody>
      </p:sp>
      <p:sp>
        <p:nvSpPr>
          <p:cNvPr id="23" name="Shape 21"/>
          <p:cNvSpPr/>
          <p:nvPr/>
        </p:nvSpPr>
        <p:spPr>
          <a:xfrm>
            <a:off x="594360" y="5157216"/>
            <a:ext cx="11000232" cy="868680"/>
          </a:xfrm>
          <a:prstGeom prst="roundRect">
            <a:avLst>
              <a:gd name="adj" fmla="val 16842"/>
            </a:avLst>
          </a:prstGeom>
          <a:solidFill>
            <a:srgbClr val="0C534A"/>
          </a:solidFill>
          <a:ln w="10160">
            <a:solidFill>
              <a:srgbClr val="51E1C2"/>
            </a:solidFill>
            <a:prstDash val="solid"/>
          </a:ln>
        </p:spPr>
      </p:sp>
      <p:sp>
        <p:nvSpPr>
          <p:cNvPr id="24" name="Text 22"/>
          <p:cNvSpPr/>
          <p:nvPr/>
        </p:nvSpPr>
        <p:spPr>
          <a:xfrm>
            <a:off x="868680" y="5394960"/>
            <a:ext cx="10424160" cy="393192"/>
          </a:xfrm>
          <a:prstGeom prst="rect">
            <a:avLst/>
          </a:prstGeom>
          <a:noFill/>
          <a:ln/>
        </p:spPr>
        <p:txBody>
          <a:bodyPr wrap="square" lIns="0" tIns="0" rIns="0" bIns="0" rtlCol="0" anchor="ctr">
            <a:normAutofit/>
          </a:bodyPr>
          <a:lstStyle/>
          <a:p>
            <a:pPr algn="ctr" indent="0" marL="0">
              <a:buNone/>
            </a:pPr>
            <a:r>
              <a:rPr lang="en-US" sz="2800" b="1" dirty="0">
                <a:solidFill>
                  <a:srgbClr val="F5F8FC"/>
                </a:solidFill>
                <a:latin typeface="Aptos" pitchFamily="34" charset="0"/>
                <a:ea typeface="Aptos" pitchFamily="34" charset="-122"/>
                <a:cs typeface="Aptos" pitchFamily="34" charset="-120"/>
              </a:rPr>
              <a:t>Test AI memory before decisions depend on it.</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APPENDIX  /  SOURCES &amp; LIMITATIONS — NOT IN LIVE TIMING</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10</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References and scope</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Every figure on the evidence slide, with the document it came from.</a:t>
            </a:r>
          </a:p>
        </p:txBody>
      </p:sp>
      <p:sp>
        <p:nvSpPr>
          <p:cNvPr id="8" name="Rounded Rectangle 7"/>
          <p:cNvSpPr/>
          <p:nvPr/>
        </p:nvSpPr>
        <p:spPr>
          <a:xfrm>
            <a:off x="594360" y="1865376"/>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32104" y="1965960"/>
            <a:ext cx="10113264" cy="237744"/>
          </a:xfrm>
          <a:prstGeom prst="rect">
            <a:avLst/>
          </a:prstGeom>
          <a:noFill/>
        </p:spPr>
        <p:txBody>
          <a:bodyPr wrap="square" lIns="0" rIns="0" tIns="0" bIns="0" anchor="t">
            <a:spAutoFit/>
          </a:bodyPr>
          <a:lstStyle/>
          <a:p>
            <a:r>
              <a:rPr sz="1250" b="1">
                <a:solidFill>
                  <a:srgbClr val="76ACFF"/>
                </a:solidFill>
                <a:latin typeface="Aptos"/>
                <a:hlinkClick r:id="rId1"/>
              </a:rPr>
              <a:t>Moffatt v. Air Canada, 2024 BCCRT 149</a:t>
            </a:r>
          </a:p>
        </p:txBody>
      </p:sp>
      <p:sp>
        <p:nvSpPr>
          <p:cNvPr id="10" name="TextBox 9"/>
          <p:cNvSpPr txBox="1"/>
          <p:nvPr/>
        </p:nvSpPr>
        <p:spPr>
          <a:xfrm>
            <a:off x="841248" y="2267712"/>
            <a:ext cx="10104120" cy="219456"/>
          </a:xfrm>
          <a:prstGeom prst="rect">
            <a:avLst/>
          </a:prstGeom>
          <a:noFill/>
        </p:spPr>
        <p:txBody>
          <a:bodyPr wrap="square" lIns="0" rIns="0" tIns="0" bIns="0" anchor="t">
            <a:spAutoFit/>
          </a:bodyPr>
          <a:lstStyle/>
          <a:p>
            <a:r>
              <a:rPr sz="960" b="0">
                <a:solidFill>
                  <a:srgbClr val="71849C"/>
                </a:solidFill>
                <a:latin typeface="Aptos"/>
              </a:rPr>
              <a:t>Chatbot gave incorrect bereavement-fare advice. The airline’s "separate legal entity" argument was rejected; CAD $650.88 awarded. The cause was never established as a memory failure.</a:t>
            </a:r>
          </a:p>
        </p:txBody>
      </p:sp>
      <p:sp>
        <p:nvSpPr>
          <p:cNvPr id="11" name="Rounded Rectangle 10"/>
          <p:cNvSpPr/>
          <p:nvPr/>
        </p:nvSpPr>
        <p:spPr>
          <a:xfrm>
            <a:off x="594360" y="2651760"/>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 y="2752344"/>
            <a:ext cx="10113264" cy="237744"/>
          </a:xfrm>
          <a:prstGeom prst="rect">
            <a:avLst/>
          </a:prstGeom>
          <a:noFill/>
        </p:spPr>
        <p:txBody>
          <a:bodyPr wrap="square" lIns="0" rIns="0" tIns="0" bIns="0" anchor="t">
            <a:spAutoFit/>
          </a:bodyPr>
          <a:lstStyle/>
          <a:p>
            <a:r>
              <a:rPr sz="1250" b="1">
                <a:solidFill>
                  <a:srgbClr val="76ACFF"/>
                </a:solidFill>
                <a:latin typeface="Aptos"/>
                <a:hlinkClick r:id="rId7"/>
              </a:rPr>
              <a:t>Zillow Group Q3 2021 results — Form 8-K, Exhibit 99.1</a:t>
            </a:r>
          </a:p>
        </p:txBody>
      </p:sp>
      <p:sp>
        <p:nvSpPr>
          <p:cNvPr id="13" name="TextBox 12"/>
          <p:cNvSpPr txBox="1"/>
          <p:nvPr/>
        </p:nvSpPr>
        <p:spPr>
          <a:xfrm>
            <a:off x="841248" y="3054096"/>
            <a:ext cx="10104120" cy="219456"/>
          </a:xfrm>
          <a:prstGeom prst="rect">
            <a:avLst/>
          </a:prstGeom>
          <a:noFill/>
        </p:spPr>
        <p:txBody>
          <a:bodyPr wrap="square" lIns="0" rIns="0" tIns="0" bIns="0" anchor="t">
            <a:spAutoFit/>
          </a:bodyPr>
          <a:lstStyle/>
          <a:p>
            <a:r>
              <a:rPr sz="960" b="0">
                <a:solidFill>
                  <a:srgbClr val="71849C"/>
                </a:solidFill>
                <a:latin typeface="Aptos"/>
              </a:rPr>
              <a:t>~$304M inventory write-down in the Homes segment, $240–265M more guided for Q4, ~25% of staff cut. A pricing-model failure, not a memory failure.</a:t>
            </a:r>
          </a:p>
        </p:txBody>
      </p:sp>
      <p:sp>
        <p:nvSpPr>
          <p:cNvPr id="14" name="Rounded Rectangle 13"/>
          <p:cNvSpPr/>
          <p:nvPr/>
        </p:nvSpPr>
        <p:spPr>
          <a:xfrm>
            <a:off x="594360" y="3438144"/>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 y="3538727"/>
            <a:ext cx="10113264" cy="237744"/>
          </a:xfrm>
          <a:prstGeom prst="rect">
            <a:avLst/>
          </a:prstGeom>
          <a:noFill/>
        </p:spPr>
        <p:txBody>
          <a:bodyPr wrap="square" lIns="0" rIns="0" tIns="0" bIns="0" anchor="t">
            <a:spAutoFit/>
          </a:bodyPr>
          <a:lstStyle/>
          <a:p>
            <a:r>
              <a:rPr sz="1250" b="1">
                <a:solidFill>
                  <a:srgbClr val="76ACFF"/>
                </a:solidFill>
                <a:latin typeface="Aptos"/>
                <a:hlinkClick r:id="rId8"/>
              </a:rPr>
              <a:t>The Markup / THE CITY — NYC MyCity chatbot (2 April 2024)</a:t>
            </a:r>
          </a:p>
        </p:txBody>
      </p:sp>
      <p:sp>
        <p:nvSpPr>
          <p:cNvPr id="16" name="TextBox 15"/>
          <p:cNvSpPr txBox="1"/>
          <p:nvPr/>
        </p:nvSpPr>
        <p:spPr>
          <a:xfrm>
            <a:off x="841248" y="3840480"/>
            <a:ext cx="10104120" cy="219456"/>
          </a:xfrm>
          <a:prstGeom prst="rect">
            <a:avLst/>
          </a:prstGeom>
          <a:noFill/>
        </p:spPr>
        <p:txBody>
          <a:bodyPr wrap="square" lIns="0" rIns="0" tIns="0" bIns="0" anchor="t">
            <a:spAutoFit/>
          </a:bodyPr>
          <a:lstStyle/>
          <a:p>
            <a:r>
              <a:rPr sz="960" b="0">
                <a:solidFill>
                  <a:srgbClr val="71849C"/>
                </a:solidFill>
                <a:latin typeface="Aptos"/>
              </a:rPr>
              <a:t>City chatbot advised business owners they could take workers’ tips and refuse tenants on rental assistance. It remained publicly accessible after publication.</a:t>
            </a:r>
          </a:p>
        </p:txBody>
      </p:sp>
      <p:sp>
        <p:nvSpPr>
          <p:cNvPr id="17" name="Rounded Rectangle 16"/>
          <p:cNvSpPr/>
          <p:nvPr/>
        </p:nvSpPr>
        <p:spPr>
          <a:xfrm>
            <a:off x="594360" y="4224528"/>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 y="4325112"/>
            <a:ext cx="10113264" cy="237744"/>
          </a:xfrm>
          <a:prstGeom prst="rect">
            <a:avLst/>
          </a:prstGeom>
          <a:noFill/>
        </p:spPr>
        <p:txBody>
          <a:bodyPr wrap="square" lIns="0" rIns="0" tIns="0" bIns="0" anchor="t">
            <a:spAutoFit/>
          </a:bodyPr>
          <a:lstStyle/>
          <a:p>
            <a:r>
              <a:rPr sz="1250" b="1">
                <a:solidFill>
                  <a:srgbClr val="76ACFF"/>
                </a:solidFill>
                <a:latin typeface="Aptos"/>
                <a:hlinkClick r:id="rId3"/>
              </a:rPr>
              <a:t>EU AI Act — Article 12</a:t>
            </a:r>
          </a:p>
        </p:txBody>
      </p:sp>
      <p:sp>
        <p:nvSpPr>
          <p:cNvPr id="19" name="TextBox 18"/>
          <p:cNvSpPr txBox="1"/>
          <p:nvPr/>
        </p:nvSpPr>
        <p:spPr>
          <a:xfrm>
            <a:off x="841248" y="4626864"/>
            <a:ext cx="10104120" cy="219456"/>
          </a:xfrm>
          <a:prstGeom prst="rect">
            <a:avLst/>
          </a:prstGeom>
          <a:noFill/>
        </p:spPr>
        <p:txBody>
          <a:bodyPr wrap="square" lIns="0" rIns="0" tIns="0" bIns="0" anchor="t">
            <a:spAutoFit/>
          </a:bodyPr>
          <a:lstStyle/>
          <a:p>
            <a:r>
              <a:rPr sz="960" b="0">
                <a:solidFill>
                  <a:srgbClr val="71849C"/>
                </a:solidFill>
                <a:latin typeface="Aptos"/>
              </a:rPr>
              <a:t>Record-keeping obligations for qualifying high-risk AI. RegWatch produces evidence logs; it confers no automatic compliance.</a:t>
            </a:r>
          </a:p>
        </p:txBody>
      </p:sp>
      <p:sp>
        <p:nvSpPr>
          <p:cNvPr id="20" name="Rounded Rectangle 19"/>
          <p:cNvSpPr/>
          <p:nvPr/>
        </p:nvSpPr>
        <p:spPr>
          <a:xfrm>
            <a:off x="594360" y="5010912"/>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2104" y="5111496"/>
            <a:ext cx="10113264" cy="237744"/>
          </a:xfrm>
          <a:prstGeom prst="rect">
            <a:avLst/>
          </a:prstGeom>
          <a:noFill/>
        </p:spPr>
        <p:txBody>
          <a:bodyPr wrap="square" lIns="0" rIns="0" tIns="0" bIns="0" anchor="t">
            <a:spAutoFit/>
          </a:bodyPr>
          <a:lstStyle/>
          <a:p>
            <a:r>
              <a:rPr sz="1250" b="1">
                <a:solidFill>
                  <a:srgbClr val="76ACFF"/>
                </a:solidFill>
                <a:latin typeface="Aptos"/>
                <a:hlinkClick r:id="rId4"/>
              </a:rPr>
              <a:t>RegWatch repository — logs, answer key and benchmark</a:t>
            </a:r>
          </a:p>
        </p:txBody>
      </p:sp>
      <p:sp>
        <p:nvSpPr>
          <p:cNvPr id="22" name="TextBox 21"/>
          <p:cNvSpPr txBox="1"/>
          <p:nvPr/>
        </p:nvSpPr>
        <p:spPr>
          <a:xfrm>
            <a:off x="841248" y="5413248"/>
            <a:ext cx="10104120" cy="219456"/>
          </a:xfrm>
          <a:prstGeom prst="rect">
            <a:avLst/>
          </a:prstGeom>
          <a:noFill/>
        </p:spPr>
        <p:txBody>
          <a:bodyPr wrap="square" lIns="0" rIns="0" tIns="0" bIns="0" anchor="t">
            <a:spAutoFit/>
          </a:bodyPr>
          <a:lstStyle/>
          <a:p>
            <a:r>
              <a:rPr sz="960" b="0">
                <a:solidFill>
                  <a:srgbClr val="71849C"/>
                </a:solidFill>
                <a:latin typeface="Aptos"/>
              </a:rPr>
              <a:t>Synthetic histories, three memory backends, 300 committed live answers per arm, and the deterministic scorer that produced slide 07.</a:t>
            </a:r>
          </a:p>
        </p:txBody>
      </p:sp>
      <p:sp>
        <p:nvSpPr>
          <p:cNvPr id="23" name="TextBox 22"/>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Slide 03 scenarios are illustrative. RegWatch cannot audit hidden memory inside external AI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Hackathon team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RegWatch AI | AI memory assurance for agents, assistants and workflows</dc:title>
  <dc:subject>Synoptix Responsible AI Hackathon — Governance &amp; Compliance</dc:subject>
  <dc:creator>RegWatch AI</dc:creator>
  <cp:lastModifiedBy>RegWatch AI</cp:lastModifiedBy>
  <cp:revision>1</cp:revision>
  <dcterms:created xsi:type="dcterms:W3CDTF">2026-10-24T20:53:44Z</dcterms:created>
  <dcterms:modified xsi:type="dcterms:W3CDTF">2026-10-24T20:53:44Z</dcterms:modified>
</cp:coreProperties>
</file>