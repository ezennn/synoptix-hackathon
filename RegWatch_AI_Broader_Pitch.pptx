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00:00-00:25 - Opening. Two questions, one pause.</a:t>
            </a:r>
          </a:p>
          <a:p/>
          <a:p>
            <a:r>
              <a:t>"Quick question. Have you ever corrected an AI assistant - and then watched it use the old fact again, later?"</a:t>
            </a:r>
          </a:p>
          <a:p/>
          <a:p>
            <a:r>
              <a:t>(PAUSE. Let hands go up. That's your permission to keep going.)</a:t>
            </a:r>
          </a:p>
          <a:p/>
          <a:p>
            <a:r>
              <a:t>"Second question. What if that assistant wasn't writing text, but booking the meeting, checking the safety spec, or approving the refund?</a:t>
            </a:r>
          </a:p>
          <a:p/>
          <a:p>
            <a:r>
              <a:t>That's the gap we built RegWatch to test."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00:25-01:05 - Evidence. Three cases, escalating.</a:t>
            </a:r>
          </a:p>
          <a:p/>
          <a:p>
            <a:r>
              <a:t>"Three documented failures. They escalate.</a:t>
            </a:r>
          </a:p>
          <a:p/>
          <a:p>
            <a:r>
              <a:t>AIR CANADA, 2024. Their chatbot invented a refund policy. The airline argued in front of a tribunal that the chatbot was a SEPARATE LEGAL ENTITY, responsible for its own answers. The tribunal called that remarkable, and rejected it. What your assistant says is what your company said.</a:t>
            </a:r>
          </a:p>
          <a:p/>
          <a:p>
            <a:r>
              <a:t>ZILLOW, 2021. Three hundred and four million dollars of inventory written off in a single quarter, because the pricing model's picture of the market fell behind the market. They shut the business down and cut a quarter of the company. A stale view of the world, priced at scale.</a:t>
            </a:r>
          </a:p>
          <a:p/>
          <a:p>
            <a:r>
              <a:t>NEW YORK CITY, 2024. The city's official business chatbot told owners they could take their workers' tips, and refuse tenants on rental assistance. Reporters published it. It stayed online.</a:t>
            </a:r>
          </a:p>
          <a:p/>
          <a:p>
            <a:r>
              <a:t>Three different causes. One shared gap - nothing tested the answer before someone relied on it."</a:t>
            </a:r>
          </a:p>
          <a:p/>
          <a:p>
            <a:r>
              <a:t>STAGE: The third one is the point. Liability and cost are setup; "no test existed" is why you're on stage. Land it and move.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01:05-01:35 - Two directions.</a:t>
            </a:r>
          </a:p>
          <a:p/>
          <a:p>
            <a:r>
              <a:t>"This isn't a finance problem or an airline problem. A travel assistant plans around dates you changed. A scheduling agent picks availability a candidate withdrew. A support bot quotes the old refund window.</a:t>
            </a:r>
          </a:p>
          <a:p/>
          <a:p>
            <a:r>
              <a:t>And it breaks in two directions, not one. Memory can KEEP THE DEAD - the superseded fact is still sitting in the context. Or it can LOSE THE LIVING - you trimmed to save tokens and the current fact went with it.</a:t>
            </a:r>
          </a:p>
          <a:p/>
          <a:p>
            <a:r>
              <a:t>From the outside both look identical: a fluent, confident assistant."</a:t>
            </a:r>
          </a:p>
          <a:p/>
          <a:p>
            <a:r>
              <a:t>STAGE: "Keep the dead / lose the living" is the most memorable phrasing in the deck. Say it slowly.</a:t>
            </a:r>
          </a:p>
          <a:p/>
          <a:p>
            <a:r>
              <a:t>CUT THIS SLIDE TO ONE SENTENCE if you are running long.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01:35-02:10 - Method and stack.</a:t>
            </a:r>
          </a:p>
          <a:p/>
          <a:p>
            <a:r>
              <a:t>"Four steps. REPLAY a controlled history: dated facts, then later updates. PROBE it with targeted questions. VERIFY against an answer key built independently, by code - not one model grading another. EXPLAIN the failure with the evidence that caused it.</a:t>
            </a:r>
          </a:p>
          <a:p/>
          <a:p>
            <a:r>
              <a:t>Underneath: Python, LiteLLM, Claude Opus, a deterministic scorer with a pytest suite, and a Streamlit dashboard over a JSONL log.</a:t>
            </a:r>
          </a:p>
          <a:p/>
          <a:p>
            <a:r>
              <a:t>The important part is the bottom strip. Three memory backends - full history, a latest-per-key reducer, a token-budget trimmer - behind one frozen interface. Same model, same system prompt, every time. THE MEMORY LAYER IS THE ONLY VARIABLE."</a:t>
            </a:r>
          </a:p>
          <a:p/>
          <a:p>
            <a:r>
              <a:t>STAGE: For a non-technical room the four verbs are enough. The stack line is for the engineers - say it fast, don't explain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02:10-03:45 - DEMO. 90 seconds, hard stop. Switch to the browser.</a:t>
            </a:r>
          </a:p>
          <a:p/>
          <a:p>
            <a:r>
              <a:t>"A client told their adviser in January they were crypto-heavy and aggressive. In March they divested and turned conservative. In April, someone asks the assistant whether a high-risk crypto ETF is suitable.</a:t>
            </a:r>
          </a:p>
          <a:p/>
          <a:p>
            <a:r>
              <a:t>Nobody typed anything wrong. The January note was true in January."</a:t>
            </a:r>
          </a:p>
          <a:p/>
          <a:p>
            <a:r>
              <a:t>(Show: old fact, the correction, the probe.)</a:t>
            </a:r>
          </a:p>
          <a:p/>
          <a:p>
            <a:r>
              <a:t>"Same question, three memory layers, side by side. Here's what each one actually answered. Here's what the dated answer key says was true in April."</a:t>
            </a:r>
          </a:p>
          <a:p/>
          <a:p>
            <a:r>
              <a:t>(Open one real failure.)</a:t>
            </a:r>
          </a:p>
          <a:p/>
          <a:p>
            <a:r>
              <a:t>"And this is the part that matters for governance - not just that it's wrong, but the exact context the memory layer handed the model. That's the evidence an assurance team needs to act."</a:t>
            </a:r>
          </a:p>
          <a:p/>
          <a:p>
            <a:r>
              <a:t>IF THE DEMO MISBEHAVES: "the committed run is in the repo and the dashboard opens on it" - then go to slide 7. Do not debug on stage.</a:t>
            </a:r>
          </a:p>
          <a:p/>
          <a:p>
            <a:r>
              <a:t>BEFORE YOU START: have the dashboard already open on the Opus run in a second tab.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03:45-04:20 - Before and after.</a:t>
            </a:r>
          </a:p>
          <a:p/>
          <a:p>
            <a:r>
              <a:t>"Without a check, the wrong answer sounds right and cites the file. There's no systematic test for updates, so you find out late - from a customer, or a tribunal.</a:t>
            </a:r>
          </a:p>
          <a:p/>
          <a:p>
            <a:r>
              <a:t>With RegWatch: the wrong answer is flagged, the old and the applicable fact are both shown, and the owner can investigate and retest.</a:t>
            </a:r>
          </a:p>
          <a:p/>
          <a:p>
            <a:r>
              <a:t>We identify and evidence failures. We don't automatically repair them - that's deliberate. A human makes the call."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04:20-05:25 - THE SLIDE. Slow down. Point at the table, don't read it aloud.</a:t>
            </a:r>
          </a:p>
          <a:p>
            <a:r>
              <a:t>NEVER CUT TIME FROM THIS SLIDE.</a:t>
            </a:r>
          </a:p>
          <a:p/>
          <a:p>
            <a:r>
              <a:t>"A hundred dated questions. Three memory layers. Three hundred live answers on Claude Opus, same prompt throughout, scored by code.</a:t>
            </a:r>
          </a:p>
          <a:p/>
          <a:p>
            <a:r>
              <a:t>Keep everything: eighty-eight out of a hundred. The latest-per-key reducer: eighty-six - at FORTY-FOUR PERCENT OF THE TOKENS. And trim-to-budget: TWENTY-FOUR.</a:t>
            </a:r>
          </a:p>
          <a:p/>
          <a:p>
            <a:r>
              <a:t>That spread, twenty-four to eighty-eight, is the memory layer alone. Nothing else changed.</a:t>
            </a:r>
          </a:p>
          <a:p/>
          <a:p>
            <a:r>
              <a:t>Now look at the cost. Trimming is the cheapest per query - and the most expensive per CORRECT answer, nearly five times the reducer. Because you pay for all forty-nine answers it couldn't give. 'Cheapest' is the wrong question.</a:t>
            </a:r>
          </a:p>
          <a:p/>
          <a:p>
            <a:r>
              <a:t>And then the thing we didn't want." (POINT RIGHT.) "Our hypothesis was that stale facts poison answers. We tested it - removed the one line telling the model to prefer recent facts, re-ran all three hundred. Twelve answers broke. NONE OF THEM had a stale fact in context. Fifty-eight other answers did.</a:t>
            </a:r>
          </a:p>
          <a:p/>
          <a:p>
            <a:r>
              <a:t>So the damage wasn't contamination. Every loss landed on the layer that DROPS facts. On this model, the adviser fails by forgetting - not by remembering too much.</a:t>
            </a:r>
          </a:p>
          <a:p/>
          <a:p>
            <a:r>
              <a:t>We shipped the result that disagreed with us. A benchmark that only confirms what you hoped isn't measuring anything."</a:t>
            </a:r>
          </a:p>
          <a:p/>
          <a:p>
            <a:r>
              <a:t>STAGE: That last line is your strongest moment. Say it and STOP. Let it sit before slide 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05:25-06:05 - Users and governance.</a:t>
            </a:r>
          </a:p>
          <a:p/>
          <a:p>
            <a:r>
              <a:t>"Today: the engineers who build these systems, and the assurance teams who have to sign them off before release. Test, record the evidence, flag the risk, human review.</a:t>
            </a:r>
          </a:p>
          <a:p/>
          <a:p>
            <a:r>
              <a:t>Individuals testing their own agents is future work - it's labelled on the slide because it isn't built.</a:t>
            </a:r>
          </a:p>
          <a:p/>
          <a:p>
            <a:r>
              <a:t>Main track is Governance and Compliance, supported by Explainability and Transparency. One honest limit: this is an assurance tool. It is not a compliance certification, and we don't claim it is."</a:t>
            </a:r>
          </a:p>
          <a:p/>
          <a:p>
            <a:r>
              <a:t>CUT TO TWO SENTENCES if running long.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06:05-06:40 - Roadmap and close.</a:t>
            </a:r>
          </a:p>
          <a:p/>
          <a:p>
            <a:r>
              <a:t>"Today it's a browser prototype on controlled synthetic histories. Next is the developer integration - a Python package and a CI check, so memory gets retested every time a prompt or a retrieval rule changes. Longer term, an opt-in check for personal assistants.</a:t>
            </a:r>
          </a:p>
          <a:p/>
          <a:p>
            <a:r>
              <a:t>Everything you've seen is in the repo: the logs, the answer key, and the script that reproduces the numbers on slide seven from a clean clone.</a:t>
            </a:r>
          </a:p>
          <a:p/>
          <a:p>
            <a:r>
              <a:t>TEST AI MEMORY BEFORE DECISIONS DEPEND ON IT. Thank you."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DO NOT PRESENT. Here for judges' questions.</a:t>
            </a:r>
          </a:p>
          <a:p/>
          <a:p>
            <a:r>
              <a:t>IF THEY ASK:</a:t>
            </a:r>
          </a:p>
          <a:p/>
          <a:p>
            <a:r>
              <a:t>"Isn't this just evals?" - Model evals score the ANSWER. We score the CONTEXT the answer came from. A model that's perfect can still be handed a dead fact, and no model eval catches that, because the model did nothing wrong.</a:t>
            </a:r>
          </a:p>
          <a:p/>
          <a:p>
            <a:r>
              <a:t>"Why synthetic data?" - One fictional client and an invented versioned policy, so there's no real client data and the answer key is provably correct. The method transfers to real approved histories; honest scoring depends on knowing ground truth, which we only do here.</a:t>
            </a:r>
          </a:p>
          <a:p/>
          <a:p>
            <a:r>
              <a:t>"Only one model and a hundred questions - thin?" - Yes, and the limitations say so. Per-bucket samples run 7 to 34. We're not claiming a general law. We're claiming the memory layer is a measurable variable nobody was measuring, and here's the harness.</a:t>
            </a:r>
          </a:p>
          <a:p/>
          <a:p>
            <a:r>
              <a:t>"Could you test my agent?" - If its memory is accessible and you can authorise a test history, yes. We cannot read hidden memory inside a third-party service, and we don't pretend to.</a:t>
            </a:r>
          </a:p>
          <a:p/>
          <a:p>
            <a:r>
              <a:t>"Why Opus?" - We ran both. On Haiku the spread is wider, 22 to 92, because the reducer degrades more on the smaller model. Both logs are committed. We quote Opus because it's the harder case for our own argument.</a:t>
            </a:r>
          </a:p>
          <a:p/>
          <a:p>
            <a:r>
              <a:t>"What does it cost to run?" - About seven dollars for all 300 answers on Opus. Rates come from a pricing file where every number carries its source and date; an unconfirmed model reports cost as unknown, never zero.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mericanbar.org/groups/business_law/resources/business-law-today/2024-february/bc-tribunal-confirms-companies-remain-liable-information-provided-ai-chatbot/" TargetMode="External"/><Relationship Id="rId2" Type="http://schemas.openxmlformats.org/officeDocument/2006/relationships/hyperlink" Target="https://kpmg.com/uk/en/media/press-releases/2024/08/leaders-recognise-gen-ai-risks.html"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Ezennn/synoptix-hackatho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americanbar.org/groups/business_law/resources/business-law-today/2024-february/bc-tribunal-confirms-companies-remain-liable-information-provided-ai-chatbot/" TargetMode="External"/><Relationship Id="rId2" Type="http://schemas.openxmlformats.org/officeDocument/2006/relationships/hyperlink" Target="https://kpmg.com/uk/en/media/press-releases/2024/08/leaders-recognise-gen-ai-risks.html" TargetMode="External"/><Relationship Id="rId3" Type="http://schemas.openxmlformats.org/officeDocument/2006/relationships/hyperlink" Target="https://ai-act-service-desk.ec.europa.eu/en/ai-act/article-12" TargetMode="External"/><Relationship Id="rId4" Type="http://schemas.openxmlformats.org/officeDocument/2006/relationships/hyperlink" Target="https://github.com/Ezennn/synoptix-hackathon" TargetMode="External"/><Relationship Id="rId5" Type="http://schemas.openxmlformats.org/officeDocument/2006/relationships/slideLayout" Target="../slideLayouts/slideLayout1.xml"/><Relationship Id="rId6" Type="http://schemas.openxmlformats.org/officeDocument/2006/relationships/notesSlide" Target="../notesSlides/notesSlide10.xml"/><Relationship Id="rId7" Type="http://schemas.openxmlformats.org/officeDocument/2006/relationships/hyperlink" Target="https://www.sec.gov/Archives/edgar/data/1617640/000161764021000085/q32021991.htm" TargetMode="External"/><Relationship Id="rId8" Type="http://schemas.openxmlformats.org/officeDocument/2006/relationships/hyperlink" Target="https://themarkup.org/news/2024/04/02/malfunctioning-nyc-ai-chatbot-still-active-despite-widespread-evidence-its-encouraging-illegal-behavior"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SYNOPTIX 2026  /  RESPONSIBLE AI  /  REGWATCH</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01</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Shape 4"/>
          <p:cNvSpPr/>
          <p:nvPr/>
        </p:nvSpPr>
        <p:spPr>
          <a:xfrm>
            <a:off x="576072" y="969264"/>
            <a:ext cx="3236976" cy="347472"/>
          </a:xfrm>
          <a:prstGeom prst="roundRect">
            <a:avLst>
              <a:gd name="adj" fmla="val 42105"/>
            </a:avLst>
          </a:prstGeom>
          <a:solidFill>
            <a:srgbClr val="19273A"/>
          </a:solidFill>
          <a:ln w="10160">
            <a:solidFill>
              <a:srgbClr val="2C4058"/>
            </a:solidFill>
            <a:prstDash val="solid"/>
          </a:ln>
        </p:spPr>
      </p:sp>
      <p:sp>
        <p:nvSpPr>
          <p:cNvPr id="7" name="Text 5"/>
          <p:cNvSpPr/>
          <p:nvPr/>
        </p:nvSpPr>
        <p:spPr>
          <a:xfrm>
            <a:off x="694944" y="1042416"/>
            <a:ext cx="3008376"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TWO QUESTIONS FOR THE ROOM</a:t>
            </a:r>
            <a:endParaRPr lang="en-US" sz="1020" dirty="0"/>
          </a:p>
        </p:txBody>
      </p:sp>
      <p:sp>
        <p:nvSpPr>
          <p:cNvPr id="8" name="Text 6"/>
          <p:cNvSpPr/>
          <p:nvPr/>
        </p:nvSpPr>
        <p:spPr>
          <a:xfrm>
            <a:off x="576072" y="1572768"/>
            <a:ext cx="10835640" cy="877824"/>
          </a:xfrm>
          <a:prstGeom prst="rect">
            <a:avLst/>
          </a:prstGeom>
          <a:noFill/>
          <a:ln/>
        </p:spPr>
        <p:txBody>
          <a:bodyPr wrap="square" lIns="0" tIns="0" rIns="0" bIns="0" rtlCol="0" anchor="ctr">
            <a:normAutofit/>
          </a:bodyPr>
          <a:lstStyle/>
          <a:p>
            <a:pPr indent="0" marL="0">
              <a:buNone/>
            </a:pPr>
            <a:r>
              <a:rPr lang="en-US" sz="4800" b="1" dirty="0">
                <a:solidFill>
                  <a:srgbClr val="F5F8FC"/>
                </a:solidFill>
                <a:latin typeface="Aptos Display" pitchFamily="34" charset="0"/>
                <a:ea typeface="Aptos Display" pitchFamily="34" charset="-122"/>
                <a:cs typeface="Aptos Display" pitchFamily="34" charset="-120"/>
              </a:rPr>
              <a:t>Your AI remembers.</a:t>
            </a:r>
            <a:endParaRPr lang="en-US" sz="4800" dirty="0"/>
          </a:p>
        </p:txBody>
      </p:sp>
      <p:sp>
        <p:nvSpPr>
          <p:cNvPr id="9" name="Text 7"/>
          <p:cNvSpPr/>
          <p:nvPr/>
        </p:nvSpPr>
        <p:spPr>
          <a:xfrm>
            <a:off x="576072" y="2432304"/>
            <a:ext cx="10835640" cy="932688"/>
          </a:xfrm>
          <a:prstGeom prst="rect">
            <a:avLst/>
          </a:prstGeom>
          <a:noFill/>
          <a:ln/>
        </p:spPr>
        <p:txBody>
          <a:bodyPr wrap="square" lIns="0" tIns="0" rIns="0" bIns="0" rtlCol="0" anchor="ctr">
            <a:normAutofit/>
          </a:bodyPr>
          <a:lstStyle/>
          <a:p>
            <a:pPr indent="0" marL="0">
              <a:buNone/>
            </a:pPr>
            <a:r>
              <a:rPr lang="en-US" sz="5500" b="1" dirty="0">
                <a:solidFill>
                  <a:srgbClr val="51E1C2"/>
                </a:solidFill>
                <a:latin typeface="Aptos Display" pitchFamily="34" charset="0"/>
                <a:ea typeface="Aptos Display" pitchFamily="34" charset="-122"/>
                <a:cs typeface="Aptos Display" pitchFamily="34" charset="-120"/>
              </a:rPr>
              <a:t>But is it right?</a:t>
            </a:r>
            <a:endParaRPr lang="en-US" sz="5500" dirty="0"/>
          </a:p>
        </p:txBody>
      </p:sp>
      <p:sp>
        <p:nvSpPr>
          <p:cNvPr id="10" name="Shape 8"/>
          <p:cNvSpPr/>
          <p:nvPr/>
        </p:nvSpPr>
        <p:spPr>
          <a:xfrm>
            <a:off x="576072" y="3803904"/>
            <a:ext cx="11027664" cy="1490472"/>
          </a:xfrm>
          <a:prstGeom prst="roundRect">
            <a:avLst>
              <a:gd name="adj" fmla="val 9816"/>
            </a:avLst>
          </a:prstGeom>
          <a:solidFill>
            <a:srgbClr val="121E30"/>
          </a:solidFill>
          <a:ln w="10160">
            <a:solidFill>
              <a:srgbClr val="2C4058"/>
            </a:solidFill>
            <a:prstDash val="solid"/>
          </a:ln>
        </p:spPr>
      </p:sp>
      <p:sp>
        <p:nvSpPr>
          <p:cNvPr id="11" name="Text 9"/>
          <p:cNvSpPr/>
          <p:nvPr/>
        </p:nvSpPr>
        <p:spPr>
          <a:xfrm>
            <a:off x="868680" y="4050792"/>
            <a:ext cx="10314432" cy="438912"/>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Have you ever corrected an AI—then seen it use the old fact again?</a:t>
            </a:r>
            <a:endParaRPr lang="en-US" sz="2100" dirty="0"/>
          </a:p>
        </p:txBody>
      </p:sp>
      <p:sp>
        <p:nvSpPr>
          <p:cNvPr id="12" name="Text 10"/>
          <p:cNvSpPr/>
          <p:nvPr/>
        </p:nvSpPr>
        <p:spPr>
          <a:xfrm>
            <a:off x="868680" y="4654296"/>
            <a:ext cx="10204704" cy="365760"/>
          </a:xfrm>
          <a:prstGeom prst="rect">
            <a:avLst/>
          </a:prstGeom>
          <a:noFill/>
          <a:ln/>
        </p:spPr>
        <p:txBody>
          <a:bodyPr wrap="square" lIns="0" tIns="0" rIns="0" bIns="0" rtlCol="0" anchor="ctr">
            <a:normAutofit/>
          </a:bodyPr>
          <a:lstStyle/>
          <a:p>
            <a:pPr indent="0" marL="0">
              <a:buNone/>
            </a:pPr>
            <a:r>
              <a:rPr lang="en-US" sz="2000" dirty="0">
                <a:solidFill>
                  <a:srgbClr val="A2B4C9"/>
                </a:solidFill>
                <a:latin typeface="Aptos" pitchFamily="34" charset="0"/>
                <a:ea typeface="Aptos" pitchFamily="34" charset="-122"/>
                <a:cs typeface="Aptos" pitchFamily="34" charset="-120"/>
              </a:rPr>
              <a:t>What if that AI could act on the mistake?</a:t>
            </a:r>
            <a:endParaRPr lang="en-US" sz="2000" dirty="0"/>
          </a:p>
        </p:txBody>
      </p:sp>
      <p:sp>
        <p:nvSpPr>
          <p:cNvPr id="13" name="Shape 11"/>
          <p:cNvSpPr/>
          <p:nvPr/>
        </p:nvSpPr>
        <p:spPr>
          <a:xfrm>
            <a:off x="594360" y="5641848"/>
            <a:ext cx="8823960" cy="347472"/>
          </a:xfrm>
          <a:prstGeom prst="roundRect">
            <a:avLst>
              <a:gd name="adj" fmla="val 42105"/>
            </a:avLst>
          </a:prstGeom>
          <a:solidFill>
            <a:srgbClr val="19273A"/>
          </a:solidFill>
          <a:ln w="10160">
            <a:solidFill>
              <a:srgbClr val="2C4058"/>
            </a:solidFill>
            <a:prstDash val="solid"/>
          </a:ln>
        </p:spPr>
      </p:sp>
      <p:sp>
        <p:nvSpPr>
          <p:cNvPr id="14" name="Text 12"/>
          <p:cNvSpPr/>
          <p:nvPr/>
        </p:nvSpPr>
        <p:spPr>
          <a:xfrm>
            <a:off x="713232" y="5715000"/>
            <a:ext cx="8595360"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RegWatch  •  Memory assurance for AI agents, assistants and workflows</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REGWATCH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02</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Confident AI answers can have real consequences</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Three documented failures — a liability precedent, a priced-in loss, and a system left running.</a:t>
            </a:r>
          </a:p>
        </p:txBody>
      </p:sp>
      <p:sp>
        <p:nvSpPr>
          <p:cNvPr id="8" name="Rounded Rectangle 7"/>
          <p:cNvSpPr/>
          <p:nvPr/>
        </p:nvSpPr>
        <p:spPr>
          <a:xfrm>
            <a:off x="576072" y="1938528"/>
            <a:ext cx="3511296" cy="3749039"/>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13816" y="2130552"/>
            <a:ext cx="3035808"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203704"/>
            <a:ext cx="2834640" cy="182880"/>
          </a:xfrm>
          <a:prstGeom prst="rect">
            <a:avLst/>
          </a:prstGeom>
          <a:noFill/>
        </p:spPr>
        <p:txBody>
          <a:bodyPr wrap="square" lIns="0" rIns="0" tIns="0" bIns="0" anchor="t">
            <a:spAutoFit/>
          </a:bodyPr>
          <a:lstStyle/>
          <a:p>
            <a:r>
              <a:rPr sz="900" b="1" spc="65">
                <a:solidFill>
                  <a:srgbClr val="FFB864"/>
                </a:solidFill>
                <a:latin typeface="Aptos"/>
              </a:rPr>
              <a:t>LEGAL PRECEDENT  •  AIR CANADA, 2024</a:t>
            </a:r>
          </a:p>
        </p:txBody>
      </p:sp>
      <p:sp>
        <p:nvSpPr>
          <p:cNvPr id="11" name="TextBox 10"/>
          <p:cNvSpPr txBox="1"/>
          <p:nvPr/>
        </p:nvSpPr>
        <p:spPr>
          <a:xfrm>
            <a:off x="832104" y="2651760"/>
            <a:ext cx="3017520" cy="566928"/>
          </a:xfrm>
          <a:prstGeom prst="rect">
            <a:avLst/>
          </a:prstGeom>
          <a:noFill/>
        </p:spPr>
        <p:txBody>
          <a:bodyPr wrap="square" lIns="0" rIns="0" tIns="0" bIns="0" anchor="t">
            <a:spAutoFit/>
          </a:bodyPr>
          <a:lstStyle/>
          <a:p>
            <a:r>
              <a:rPr sz="3400" b="1">
                <a:solidFill>
                  <a:srgbClr val="FFB864"/>
                </a:solidFill>
                <a:latin typeface="Aptos Display"/>
              </a:rPr>
              <a:t>Liable</a:t>
            </a:r>
          </a:p>
        </p:txBody>
      </p:sp>
      <p:sp>
        <p:nvSpPr>
          <p:cNvPr id="12" name="TextBox 11"/>
          <p:cNvSpPr txBox="1"/>
          <p:nvPr/>
        </p:nvSpPr>
        <p:spPr>
          <a:xfrm>
            <a:off x="832104" y="3310128"/>
            <a:ext cx="3017520" cy="1325880"/>
          </a:xfrm>
          <a:prstGeom prst="rect">
            <a:avLst/>
          </a:prstGeom>
          <a:noFill/>
        </p:spPr>
        <p:txBody>
          <a:bodyPr wrap="square" lIns="0" rIns="0" tIns="0" bIns="0" anchor="t">
            <a:spAutoFit/>
          </a:bodyPr>
          <a:lstStyle/>
          <a:p>
            <a:pPr>
              <a:lnSpc>
                <a:spcPct val="126000"/>
              </a:lnSpc>
            </a:pPr>
            <a:r>
              <a:rPr sz="1300" b="0">
                <a:solidFill>
                  <a:srgbClr val="A2B4C9"/>
                </a:solidFill>
                <a:latin typeface="Aptos"/>
              </a:rPr>
              <a:t>The airline argued its chatbot was a "separate legal entity" answering for itself. The tribunal called that remarkable and rejected it.</a:t>
            </a:r>
          </a:p>
        </p:txBody>
      </p:sp>
      <p:sp>
        <p:nvSpPr>
          <p:cNvPr id="13" name="Rectangle 12"/>
          <p:cNvSpPr/>
          <p:nvPr/>
        </p:nvSpPr>
        <p:spPr>
          <a:xfrm>
            <a:off x="832104" y="4736592"/>
            <a:ext cx="2999232"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 y="4882896"/>
            <a:ext cx="3017520" cy="512064"/>
          </a:xfrm>
          <a:prstGeom prst="rect">
            <a:avLst/>
          </a:prstGeom>
          <a:noFill/>
        </p:spPr>
        <p:txBody>
          <a:bodyPr wrap="square" lIns="0" rIns="0" tIns="0" bIns="0" anchor="t">
            <a:spAutoFit/>
          </a:bodyPr>
          <a:lstStyle/>
          <a:p>
            <a:pPr>
              <a:lnSpc>
                <a:spcPct val="120000"/>
              </a:lnSpc>
            </a:pPr>
            <a:r>
              <a:rPr sz="1250" b="1">
                <a:solidFill>
                  <a:srgbClr val="F5F8FC"/>
                </a:solidFill>
                <a:latin typeface="Aptos"/>
              </a:rPr>
              <a:t>What your assistant says is what your company said.</a:t>
            </a:r>
          </a:p>
        </p:txBody>
      </p:sp>
      <p:sp>
        <p:nvSpPr>
          <p:cNvPr id="15" name="TextBox 14"/>
          <p:cNvSpPr txBox="1"/>
          <p:nvPr/>
        </p:nvSpPr>
        <p:spPr>
          <a:xfrm>
            <a:off x="832104" y="5468112"/>
            <a:ext cx="3017520" cy="182880"/>
          </a:xfrm>
          <a:prstGeom prst="rect">
            <a:avLst/>
          </a:prstGeom>
          <a:noFill/>
        </p:spPr>
        <p:txBody>
          <a:bodyPr wrap="square" lIns="0" rIns="0" tIns="0" bIns="0" anchor="t">
            <a:spAutoFit/>
          </a:bodyPr>
          <a:lstStyle/>
          <a:p>
            <a:r>
              <a:rPr sz="860" b="0">
                <a:solidFill>
                  <a:srgbClr val="71849C"/>
                </a:solidFill>
                <a:latin typeface="Aptos"/>
              </a:rPr>
              <a:t>Moffatt v. Air Canada, 2024 BCCRT 149</a:t>
            </a:r>
          </a:p>
        </p:txBody>
      </p:sp>
      <p:sp>
        <p:nvSpPr>
          <p:cNvPr id="16" name="Rounded Rectangle 15"/>
          <p:cNvSpPr/>
          <p:nvPr/>
        </p:nvSpPr>
        <p:spPr>
          <a:xfrm>
            <a:off x="4251960" y="1938528"/>
            <a:ext cx="3511296" cy="3749039"/>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89704" y="2130552"/>
            <a:ext cx="3035808"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08576" y="2203704"/>
            <a:ext cx="2834640" cy="182880"/>
          </a:xfrm>
          <a:prstGeom prst="rect">
            <a:avLst/>
          </a:prstGeom>
          <a:noFill/>
        </p:spPr>
        <p:txBody>
          <a:bodyPr wrap="square" lIns="0" rIns="0" tIns="0" bIns="0" anchor="t">
            <a:spAutoFit/>
          </a:bodyPr>
          <a:lstStyle/>
          <a:p>
            <a:r>
              <a:rPr sz="900" b="1" spc="65">
                <a:solidFill>
                  <a:srgbClr val="FFB864"/>
                </a:solidFill>
                <a:latin typeface="Aptos"/>
              </a:rPr>
              <a:t>PRICED-IN LOSS  •  ZILLOW, 2021</a:t>
            </a:r>
          </a:p>
        </p:txBody>
      </p:sp>
      <p:sp>
        <p:nvSpPr>
          <p:cNvPr id="19" name="TextBox 18"/>
          <p:cNvSpPr txBox="1"/>
          <p:nvPr/>
        </p:nvSpPr>
        <p:spPr>
          <a:xfrm>
            <a:off x="4507992" y="2651760"/>
            <a:ext cx="3017520" cy="566928"/>
          </a:xfrm>
          <a:prstGeom prst="rect">
            <a:avLst/>
          </a:prstGeom>
          <a:noFill/>
        </p:spPr>
        <p:txBody>
          <a:bodyPr wrap="square" lIns="0" rIns="0" tIns="0" bIns="0" anchor="t">
            <a:spAutoFit/>
          </a:bodyPr>
          <a:lstStyle/>
          <a:p>
            <a:r>
              <a:rPr sz="3400" b="1">
                <a:solidFill>
                  <a:srgbClr val="FFB864"/>
                </a:solidFill>
                <a:latin typeface="Aptos Display"/>
              </a:rPr>
              <a:t>$304M</a:t>
            </a:r>
          </a:p>
        </p:txBody>
      </p:sp>
      <p:sp>
        <p:nvSpPr>
          <p:cNvPr id="20" name="TextBox 19"/>
          <p:cNvSpPr txBox="1"/>
          <p:nvPr/>
        </p:nvSpPr>
        <p:spPr>
          <a:xfrm>
            <a:off x="4507992" y="3310128"/>
            <a:ext cx="3017520" cy="1325880"/>
          </a:xfrm>
          <a:prstGeom prst="rect">
            <a:avLst/>
          </a:prstGeom>
          <a:noFill/>
        </p:spPr>
        <p:txBody>
          <a:bodyPr wrap="square" lIns="0" rIns="0" tIns="0" bIns="0" anchor="t">
            <a:spAutoFit/>
          </a:bodyPr>
          <a:lstStyle/>
          <a:p>
            <a:pPr>
              <a:lnSpc>
                <a:spcPct val="126000"/>
              </a:lnSpc>
            </a:pPr>
            <a:r>
              <a:rPr sz="1300" b="0">
                <a:solidFill>
                  <a:srgbClr val="A2B4C9"/>
                </a:solidFill>
                <a:latin typeface="Aptos"/>
              </a:rPr>
              <a:t>Written off its home inventory in one quarter, after the pricing model’s view of the market fell behind the market. Zillow guided to a further $240–265M and wound the business down.</a:t>
            </a:r>
          </a:p>
        </p:txBody>
      </p:sp>
      <p:sp>
        <p:nvSpPr>
          <p:cNvPr id="21" name="Rectangle 20"/>
          <p:cNvSpPr/>
          <p:nvPr/>
        </p:nvSpPr>
        <p:spPr>
          <a:xfrm>
            <a:off x="4507992" y="4736592"/>
            <a:ext cx="2999232"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7992" y="4882896"/>
            <a:ext cx="3017520" cy="512064"/>
          </a:xfrm>
          <a:prstGeom prst="rect">
            <a:avLst/>
          </a:prstGeom>
          <a:noFill/>
        </p:spPr>
        <p:txBody>
          <a:bodyPr wrap="square" lIns="0" rIns="0" tIns="0" bIns="0" anchor="t">
            <a:spAutoFit/>
          </a:bodyPr>
          <a:lstStyle/>
          <a:p>
            <a:pPr>
              <a:lnSpc>
                <a:spcPct val="120000"/>
              </a:lnSpc>
            </a:pPr>
            <a:r>
              <a:rPr sz="1250" b="1">
                <a:solidFill>
                  <a:srgbClr val="F5F8FC"/>
                </a:solidFill>
                <a:latin typeface="Aptos"/>
              </a:rPr>
              <a:t>A stale view of the world, priced at scale.</a:t>
            </a:r>
          </a:p>
        </p:txBody>
      </p:sp>
      <p:sp>
        <p:nvSpPr>
          <p:cNvPr id="23" name="TextBox 22"/>
          <p:cNvSpPr txBox="1"/>
          <p:nvPr/>
        </p:nvSpPr>
        <p:spPr>
          <a:xfrm>
            <a:off x="4507992" y="5468112"/>
            <a:ext cx="3017520" cy="182880"/>
          </a:xfrm>
          <a:prstGeom prst="rect">
            <a:avLst/>
          </a:prstGeom>
          <a:noFill/>
        </p:spPr>
        <p:txBody>
          <a:bodyPr wrap="square" lIns="0" rIns="0" tIns="0" bIns="0" anchor="t">
            <a:spAutoFit/>
          </a:bodyPr>
          <a:lstStyle/>
          <a:p>
            <a:r>
              <a:rPr sz="860" b="0">
                <a:solidFill>
                  <a:srgbClr val="71849C"/>
                </a:solidFill>
                <a:latin typeface="Aptos"/>
              </a:rPr>
              <a:t>Zillow Group Q3 2021, Form 8-K  •  ~25% of staff cut</a:t>
            </a:r>
          </a:p>
        </p:txBody>
      </p:sp>
      <p:sp>
        <p:nvSpPr>
          <p:cNvPr id="24" name="Rounded Rectangle 23"/>
          <p:cNvSpPr/>
          <p:nvPr/>
        </p:nvSpPr>
        <p:spPr>
          <a:xfrm>
            <a:off x="7927848" y="1938528"/>
            <a:ext cx="3511296" cy="3749039"/>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165592" y="2130552"/>
            <a:ext cx="3035808"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84464" y="2203704"/>
            <a:ext cx="2834640" cy="182880"/>
          </a:xfrm>
          <a:prstGeom prst="rect">
            <a:avLst/>
          </a:prstGeom>
          <a:noFill/>
        </p:spPr>
        <p:txBody>
          <a:bodyPr wrap="square" lIns="0" rIns="0" tIns="0" bIns="0" anchor="t">
            <a:spAutoFit/>
          </a:bodyPr>
          <a:lstStyle/>
          <a:p>
            <a:r>
              <a:rPr sz="900" b="1" spc="65">
                <a:solidFill>
                  <a:srgbClr val="51E1C2"/>
                </a:solidFill>
                <a:latin typeface="Aptos"/>
              </a:rPr>
              <a:t>NO GATE  •  NYC MyCITY, 2024</a:t>
            </a:r>
          </a:p>
        </p:txBody>
      </p:sp>
      <p:sp>
        <p:nvSpPr>
          <p:cNvPr id="27" name="TextBox 26"/>
          <p:cNvSpPr txBox="1"/>
          <p:nvPr/>
        </p:nvSpPr>
        <p:spPr>
          <a:xfrm>
            <a:off x="8183879" y="2651760"/>
            <a:ext cx="3017520" cy="566928"/>
          </a:xfrm>
          <a:prstGeom prst="rect">
            <a:avLst/>
          </a:prstGeom>
          <a:noFill/>
        </p:spPr>
        <p:txBody>
          <a:bodyPr wrap="square" lIns="0" rIns="0" tIns="0" bIns="0" anchor="t">
            <a:spAutoFit/>
          </a:bodyPr>
          <a:lstStyle/>
          <a:p>
            <a:r>
              <a:rPr sz="3400" b="1">
                <a:solidFill>
                  <a:srgbClr val="51E1C2"/>
                </a:solidFill>
                <a:latin typeface="Aptos Display"/>
              </a:rPr>
              <a:t>Left live</a:t>
            </a:r>
          </a:p>
        </p:txBody>
      </p:sp>
      <p:sp>
        <p:nvSpPr>
          <p:cNvPr id="28" name="TextBox 27"/>
          <p:cNvSpPr txBox="1"/>
          <p:nvPr/>
        </p:nvSpPr>
        <p:spPr>
          <a:xfrm>
            <a:off x="8183879" y="3310128"/>
            <a:ext cx="3017520" cy="1325880"/>
          </a:xfrm>
          <a:prstGeom prst="rect">
            <a:avLst/>
          </a:prstGeom>
          <a:noFill/>
        </p:spPr>
        <p:txBody>
          <a:bodyPr wrap="square" lIns="0" rIns="0" tIns="0" bIns="0" anchor="t">
            <a:spAutoFit/>
          </a:bodyPr>
          <a:lstStyle/>
          <a:p>
            <a:pPr>
              <a:lnSpc>
                <a:spcPct val="126000"/>
              </a:lnSpc>
            </a:pPr>
            <a:r>
              <a:rPr sz="1300" b="0">
                <a:solidFill>
                  <a:srgbClr val="A2B4C9"/>
                </a:solidFill>
                <a:latin typeface="Aptos"/>
              </a:rPr>
              <a:t>A city chatbot told business owners they could take workers’ tips and refuse tenants on rental assistance. After reporting, it stayed online.</a:t>
            </a:r>
          </a:p>
        </p:txBody>
      </p:sp>
      <p:sp>
        <p:nvSpPr>
          <p:cNvPr id="29" name="Rectangle 28"/>
          <p:cNvSpPr/>
          <p:nvPr/>
        </p:nvSpPr>
        <p:spPr>
          <a:xfrm>
            <a:off x="8183879" y="4736592"/>
            <a:ext cx="2999232"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4882896"/>
            <a:ext cx="3017520" cy="512064"/>
          </a:xfrm>
          <a:prstGeom prst="rect">
            <a:avLst/>
          </a:prstGeom>
          <a:noFill/>
        </p:spPr>
        <p:txBody>
          <a:bodyPr wrap="square" lIns="0" rIns="0" tIns="0" bIns="0" anchor="t">
            <a:spAutoFit/>
          </a:bodyPr>
          <a:lstStyle/>
          <a:p>
            <a:pPr>
              <a:lnSpc>
                <a:spcPct val="120000"/>
              </a:lnSpc>
            </a:pPr>
            <a:r>
              <a:rPr sz="1250" b="1">
                <a:solidFill>
                  <a:srgbClr val="F5F8FC"/>
                </a:solidFill>
                <a:latin typeface="Aptos"/>
              </a:rPr>
              <a:t>No test existed that would have caught it.</a:t>
            </a:r>
          </a:p>
        </p:txBody>
      </p:sp>
      <p:sp>
        <p:nvSpPr>
          <p:cNvPr id="31" name="TextBox 30"/>
          <p:cNvSpPr txBox="1"/>
          <p:nvPr/>
        </p:nvSpPr>
        <p:spPr>
          <a:xfrm>
            <a:off x="8183879" y="5468112"/>
            <a:ext cx="3017520" cy="182880"/>
          </a:xfrm>
          <a:prstGeom prst="rect">
            <a:avLst/>
          </a:prstGeom>
          <a:noFill/>
        </p:spPr>
        <p:txBody>
          <a:bodyPr wrap="square" lIns="0" rIns="0" tIns="0" bIns="0" anchor="t">
            <a:spAutoFit/>
          </a:bodyPr>
          <a:lstStyle/>
          <a:p>
            <a:r>
              <a:rPr sz="860" b="0">
                <a:solidFill>
                  <a:srgbClr val="71849C"/>
                </a:solidFill>
                <a:latin typeface="Aptos"/>
              </a:rPr>
              <a:t>The Markup / THE CITY, April 2024</a:t>
            </a:r>
          </a:p>
        </p:txBody>
      </p:sp>
      <p:sp>
        <p:nvSpPr>
          <p:cNvPr id="32" name="TextBox 31"/>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Three different causes — a fabricated policy, a lagging model, an untested release. One shared gap: nothing tested the answer first.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REGWATCH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03</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One memory failure. Many different consequences.</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Illustrative scenarios — wherever yesterday’s context drives today’s answer or action.</a:t>
            </a:r>
            <a:endParaRPr lang="en-US" sz="1500" dirty="0"/>
          </a:p>
        </p:txBody>
      </p:sp>
      <p:sp>
        <p:nvSpPr>
          <p:cNvPr id="8" name="Shape 6"/>
          <p:cNvSpPr/>
          <p:nvPr/>
        </p:nvSpPr>
        <p:spPr>
          <a:xfrm>
            <a:off x="594360" y="1965960"/>
            <a:ext cx="5431536" cy="1472184"/>
          </a:xfrm>
          <a:prstGeom prst="roundRect">
            <a:avLst>
              <a:gd name="adj" fmla="val 9938"/>
            </a:avLst>
          </a:prstGeom>
          <a:solidFill>
            <a:srgbClr val="121E30"/>
          </a:solidFill>
          <a:ln w="10160">
            <a:solidFill>
              <a:srgbClr val="2C4058"/>
            </a:solidFill>
            <a:prstDash val="solid"/>
          </a:ln>
        </p:spPr>
        <p:txBody>
          <a:bodyPr/>
          <a:p/>
        </p:txBody>
      </p:sp>
      <p:sp>
        <p:nvSpPr>
          <p:cNvPr id="9" name="Text 7"/>
          <p:cNvSpPr/>
          <p:nvPr/>
        </p:nvSpPr>
        <p:spPr>
          <a:xfrm>
            <a:off x="804672" y="2139696"/>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76ACFF"/>
                </a:solidFill>
                <a:latin typeface="Aptos" pitchFamily="34" charset="0"/>
                <a:ea typeface="Aptos" pitchFamily="34" charset="-122"/>
                <a:cs typeface="Aptos" pitchFamily="34" charset="-120"/>
              </a:rPr>
              <a:t>PERSONAL AI</a:t>
            </a:r>
            <a:endParaRPr lang="en-US" sz="1050" dirty="0"/>
          </a:p>
        </p:txBody>
      </p:sp>
      <p:sp>
        <p:nvSpPr>
          <p:cNvPr id="10" name="Text 8"/>
          <p:cNvSpPr/>
          <p:nvPr/>
        </p:nvSpPr>
        <p:spPr>
          <a:xfrm>
            <a:off x="804672" y="2404872"/>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Travel dates changed</a:t>
            </a:r>
            <a:endParaRPr lang="en-US" sz="2000" dirty="0"/>
          </a:p>
        </p:txBody>
      </p:sp>
      <p:sp>
        <p:nvSpPr>
          <p:cNvPr id="11" name="Text 9"/>
          <p:cNvSpPr/>
          <p:nvPr/>
        </p:nvSpPr>
        <p:spPr>
          <a:xfrm>
            <a:off x="804672" y="2880360"/>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Assistant plans around the old dates</a:t>
            </a:r>
            <a:endParaRPr lang="en-US" sz="1450" dirty="0"/>
          </a:p>
        </p:txBody>
      </p:sp>
      <p:sp>
        <p:nvSpPr>
          <p:cNvPr id="12" name="Shape 10"/>
          <p:cNvSpPr/>
          <p:nvPr/>
        </p:nvSpPr>
        <p:spPr>
          <a:xfrm>
            <a:off x="6172200" y="1965960"/>
            <a:ext cx="5431536" cy="1472184"/>
          </a:xfrm>
          <a:prstGeom prst="roundRect">
            <a:avLst>
              <a:gd name="adj" fmla="val 9938"/>
            </a:avLst>
          </a:prstGeom>
          <a:solidFill>
            <a:srgbClr val="121E30"/>
          </a:solidFill>
          <a:ln w="10160">
            <a:solidFill>
              <a:srgbClr val="2C4058"/>
            </a:solidFill>
            <a:prstDash val="solid"/>
          </a:ln>
        </p:spPr>
        <p:txBody>
          <a:bodyPr/>
          <a:p/>
        </p:txBody>
      </p:sp>
      <p:sp>
        <p:nvSpPr>
          <p:cNvPr id="13" name="Text 11"/>
          <p:cNvSpPr/>
          <p:nvPr/>
        </p:nvSpPr>
        <p:spPr>
          <a:xfrm>
            <a:off x="6382512" y="2139696"/>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51E1C2"/>
                </a:solidFill>
                <a:latin typeface="Aptos" pitchFamily="34" charset="0"/>
                <a:ea typeface="Aptos" pitchFamily="34" charset="-122"/>
                <a:cs typeface="Aptos" pitchFamily="34" charset="-120"/>
              </a:rPr>
              <a:t>WORKPLACE AGENT</a:t>
            </a:r>
            <a:endParaRPr lang="en-US" sz="1050" dirty="0"/>
          </a:p>
        </p:txBody>
      </p:sp>
      <p:sp>
        <p:nvSpPr>
          <p:cNvPr id="14" name="Text 12"/>
          <p:cNvSpPr/>
          <p:nvPr/>
        </p:nvSpPr>
        <p:spPr>
          <a:xfrm>
            <a:off x="6382512" y="2404872"/>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Candidate availability updated</a:t>
            </a:r>
            <a:endParaRPr lang="en-US" sz="2000" dirty="0"/>
          </a:p>
        </p:txBody>
      </p:sp>
      <p:sp>
        <p:nvSpPr>
          <p:cNvPr id="15" name="Text 13"/>
          <p:cNvSpPr/>
          <p:nvPr/>
        </p:nvSpPr>
        <p:spPr>
          <a:xfrm>
            <a:off x="6382512" y="2880360"/>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Scheduling agent picks the old time</a:t>
            </a:r>
            <a:endParaRPr lang="en-US" sz="1450" dirty="0"/>
          </a:p>
        </p:txBody>
      </p:sp>
      <p:sp>
        <p:nvSpPr>
          <p:cNvPr id="16" name="Shape 14"/>
          <p:cNvSpPr/>
          <p:nvPr/>
        </p:nvSpPr>
        <p:spPr>
          <a:xfrm>
            <a:off x="594360" y="3593592"/>
            <a:ext cx="5431536" cy="1472184"/>
          </a:xfrm>
          <a:prstGeom prst="roundRect">
            <a:avLst>
              <a:gd name="adj" fmla="val 9938"/>
            </a:avLst>
          </a:prstGeom>
          <a:solidFill>
            <a:srgbClr val="121E30"/>
          </a:solidFill>
          <a:ln w="10160">
            <a:solidFill>
              <a:srgbClr val="2C4058"/>
            </a:solidFill>
            <a:prstDash val="solid"/>
          </a:ln>
        </p:spPr>
        <p:txBody>
          <a:bodyPr/>
          <a:p/>
        </p:txBody>
      </p:sp>
      <p:sp>
        <p:nvSpPr>
          <p:cNvPr id="17" name="Text 15"/>
          <p:cNvSpPr/>
          <p:nvPr/>
        </p:nvSpPr>
        <p:spPr>
          <a:xfrm>
            <a:off x="804672" y="3767328"/>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FFB864"/>
                </a:solidFill>
                <a:latin typeface="Aptos" pitchFamily="34" charset="0"/>
                <a:ea typeface="Aptos" pitchFamily="34" charset="-122"/>
                <a:cs typeface="Aptos" pitchFamily="34" charset="-120"/>
              </a:rPr>
              <a:t>ENGINEERING AI</a:t>
            </a:r>
            <a:endParaRPr lang="en-US" sz="1050" dirty="0"/>
          </a:p>
        </p:txBody>
      </p:sp>
      <p:sp>
        <p:nvSpPr>
          <p:cNvPr id="18" name="Text 16"/>
          <p:cNvSpPr/>
          <p:nvPr/>
        </p:nvSpPr>
        <p:spPr>
          <a:xfrm>
            <a:off x="804672" y="4032504"/>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Safety limit added last week</a:t>
            </a:r>
            <a:endParaRPr lang="en-US" sz="2000" dirty="0"/>
          </a:p>
        </p:txBody>
      </p:sp>
      <p:sp>
        <p:nvSpPr>
          <p:cNvPr id="19" name="Text 17"/>
          <p:cNvSpPr/>
          <p:nvPr/>
        </p:nvSpPr>
        <p:spPr>
          <a:xfrm>
            <a:off x="804672" y="4507992"/>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Copilot answers as if it never existed</a:t>
            </a:r>
            <a:endParaRPr lang="en-US" sz="1450" dirty="0"/>
          </a:p>
        </p:txBody>
      </p:sp>
      <p:sp>
        <p:nvSpPr>
          <p:cNvPr id="20" name="Shape 18"/>
          <p:cNvSpPr/>
          <p:nvPr/>
        </p:nvSpPr>
        <p:spPr>
          <a:xfrm>
            <a:off x="6172200" y="3593592"/>
            <a:ext cx="5431536" cy="1472184"/>
          </a:xfrm>
          <a:prstGeom prst="roundRect">
            <a:avLst>
              <a:gd name="adj" fmla="val 9938"/>
            </a:avLst>
          </a:prstGeom>
          <a:solidFill>
            <a:srgbClr val="121E30"/>
          </a:solidFill>
          <a:ln w="10160">
            <a:solidFill>
              <a:srgbClr val="2C4058"/>
            </a:solidFill>
            <a:prstDash val="solid"/>
          </a:ln>
        </p:spPr>
        <p:txBody>
          <a:bodyPr/>
          <a:p/>
        </p:txBody>
      </p:sp>
      <p:sp>
        <p:nvSpPr>
          <p:cNvPr id="21" name="Text 19"/>
          <p:cNvSpPr/>
          <p:nvPr/>
        </p:nvSpPr>
        <p:spPr>
          <a:xfrm>
            <a:off x="6382512" y="3767328"/>
            <a:ext cx="4919472" cy="201168"/>
          </a:xfrm>
          <a:prstGeom prst="rect">
            <a:avLst/>
          </a:prstGeom>
          <a:noFill/>
          <a:ln/>
        </p:spPr>
        <p:txBody>
          <a:bodyPr wrap="square" lIns="0" tIns="0" rIns="0" bIns="0" rtlCol="0" anchor="ctr">
            <a:normAutofit/>
          </a:bodyPr>
          <a:lstStyle/>
          <a:p>
            <a:pPr indent="0" marL="0">
              <a:buNone/>
            </a:pPr>
            <a:r>
              <a:rPr lang="en-US" sz="1050" b="1" spc="110" kern="0" dirty="0">
                <a:solidFill>
                  <a:srgbClr val="FF7185"/>
                </a:solidFill>
                <a:latin typeface="Aptos" pitchFamily="34" charset="0"/>
                <a:ea typeface="Aptos" pitchFamily="34" charset="-122"/>
                <a:cs typeface="Aptos" pitchFamily="34" charset="-120"/>
              </a:rPr>
              <a:t>SERVICE CHATBOT</a:t>
            </a:r>
            <a:endParaRPr lang="en-US" sz="1050" dirty="0"/>
          </a:p>
        </p:txBody>
      </p:sp>
      <p:sp>
        <p:nvSpPr>
          <p:cNvPr id="22" name="Text 20"/>
          <p:cNvSpPr/>
          <p:nvPr/>
        </p:nvSpPr>
        <p:spPr>
          <a:xfrm>
            <a:off x="6382512" y="4032504"/>
            <a:ext cx="4873752" cy="356616"/>
          </a:xfrm>
          <a:prstGeom prst="rect">
            <a:avLst/>
          </a:prstGeom>
          <a:noFill/>
          <a:ln/>
        </p:spPr>
        <p:txBody>
          <a:bodyPr wrap="square" lIns="0" tIns="0" rIns="0" bIns="0" rtlCol="0" anchor="ctr">
            <a:normAutofit/>
          </a:bodyPr>
          <a:lstStyle/>
          <a:p>
            <a:pPr indent="0" marL="0">
              <a:buNone/>
            </a:pPr>
            <a:r>
              <a:rPr lang="en-US" sz="2000" b="1" dirty="0">
                <a:solidFill>
                  <a:srgbClr val="F5F8FC"/>
                </a:solidFill>
                <a:latin typeface="Aptos" pitchFamily="34" charset="0"/>
                <a:ea typeface="Aptos" pitchFamily="34" charset="-122"/>
                <a:cs typeface="Aptos" pitchFamily="34" charset="-120"/>
              </a:rPr>
              <a:t>Refund policy shortened</a:t>
            </a:r>
            <a:endParaRPr lang="en-US" sz="2000" dirty="0"/>
          </a:p>
        </p:txBody>
      </p:sp>
      <p:sp>
        <p:nvSpPr>
          <p:cNvPr id="23" name="Text 21"/>
          <p:cNvSpPr/>
          <p:nvPr/>
        </p:nvSpPr>
        <p:spPr>
          <a:xfrm>
            <a:off x="6382512" y="4507992"/>
            <a:ext cx="4928616" cy="310896"/>
          </a:xfrm>
          <a:prstGeom prst="rect">
            <a:avLst/>
          </a:prstGeom>
          <a:noFill/>
          <a:ln/>
        </p:spPr>
        <p:txBody>
          <a:bodyPr wrap="square" lIns="0" tIns="0" rIns="0" bIns="0" rtlCol="0" anchor="ctr">
            <a:normAutofit/>
          </a:bodyPr>
          <a:lstStyle/>
          <a:p>
            <a:pPr indent="0" marL="0">
              <a:buNone/>
            </a:pPr>
            <a:r>
              <a:rPr lang="en-US" sz="1450" dirty="0">
                <a:solidFill>
                  <a:srgbClr val="A2B4C9"/>
                </a:solidFill>
                <a:latin typeface="Aptos" pitchFamily="34" charset="0"/>
                <a:ea typeface="Aptos" pitchFamily="34" charset="-122"/>
                <a:cs typeface="Aptos" pitchFamily="34" charset="-120"/>
              </a:rPr>
              <a:t>Customer receives outdated guidance</a:t>
            </a:r>
            <a:endParaRPr lang="en-US" sz="1450" dirty="0"/>
          </a:p>
        </p:txBody>
      </p:sp>
      <p:sp>
        <p:nvSpPr>
          <p:cNvPr id="24" name="Shape 22"/>
          <p:cNvSpPr/>
          <p:nvPr/>
        </p:nvSpPr>
        <p:spPr>
          <a:xfrm>
            <a:off x="594360" y="5404104"/>
            <a:ext cx="11009376" cy="566928"/>
          </a:xfrm>
          <a:prstGeom prst="roundRect">
            <a:avLst>
              <a:gd name="adj" fmla="val 25806"/>
            </a:avLst>
          </a:prstGeom>
          <a:solidFill>
            <a:srgbClr val="0E1A2B"/>
          </a:solidFill>
          <a:ln w="10160">
            <a:solidFill>
              <a:srgbClr val="51E1C2"/>
            </a:solidFill>
            <a:prstDash val="solid"/>
          </a:ln>
        </p:spPr>
        <p:txBody>
          <a:bodyPr/>
          <a:p/>
        </p:txBody>
      </p:sp>
      <p:sp>
        <p:nvSpPr>
          <p:cNvPr id="25" name="Text 23"/>
          <p:cNvSpPr/>
          <p:nvPr/>
        </p:nvSpPr>
        <p:spPr>
          <a:xfrm>
            <a:off x="813816" y="5541264"/>
            <a:ext cx="10469880" cy="274320"/>
          </a:xfrm>
          <a:prstGeom prst="rect">
            <a:avLst/>
          </a:prstGeom>
          <a:noFill/>
          <a:ln/>
        </p:spPr>
        <p:txBody>
          <a:bodyPr wrap="square" lIns="0" tIns="0" rIns="0" bIns="0" rtlCol="0" anchor="ctr">
            <a:normAutofit/>
          </a:bodyPr>
          <a:lstStyle/>
          <a:p>
            <a:pPr algn="ctr" indent="0" marL="0">
              <a:buNone/>
            </a:pPr>
            <a:r>
              <a:rPr lang="en-US" sz="1750" b="1" dirty="0">
                <a:solidFill>
                  <a:srgbClr val="51E1C2"/>
                </a:solidFill>
                <a:latin typeface="Aptos" pitchFamily="34" charset="0"/>
                <a:ea typeface="Aptos" pitchFamily="34" charset="-122"/>
                <a:cs typeface="Aptos" pitchFamily="34" charset="-120"/>
              </a:rPr>
              <a:t>Two directions, one gap:  STALE FACT KEPT  ·  CURRENT FACT LOST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REGWATCH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04</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RegWatch: a memory check for AI systems</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A repeatable assurance test for agents, assistants and AI-powered workflows.</a:t>
            </a:r>
          </a:p>
        </p:txBody>
      </p:sp>
      <p:sp>
        <p:nvSpPr>
          <p:cNvPr id="8" name="Rounded Rectangle 7"/>
          <p:cNvSpPr/>
          <p:nvPr/>
        </p:nvSpPr>
        <p:spPr>
          <a:xfrm>
            <a:off x="585216"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2212848"/>
            <a:ext cx="914400" cy="411480"/>
          </a:xfrm>
          <a:prstGeom prst="rect">
            <a:avLst/>
          </a:prstGeom>
          <a:noFill/>
        </p:spPr>
        <p:txBody>
          <a:bodyPr wrap="square" lIns="0" rIns="0" tIns="0" bIns="0" anchor="t">
            <a:spAutoFit/>
          </a:bodyPr>
          <a:lstStyle/>
          <a:p>
            <a:r>
              <a:rPr sz="2900" b="1">
                <a:solidFill>
                  <a:srgbClr val="51E1C2"/>
                </a:solidFill>
                <a:latin typeface="Aptos Display"/>
              </a:rPr>
              <a:t>01</a:t>
            </a:r>
          </a:p>
        </p:txBody>
      </p:sp>
      <p:sp>
        <p:nvSpPr>
          <p:cNvPr id="10" name="TextBox 9"/>
          <p:cNvSpPr txBox="1"/>
          <p:nvPr/>
        </p:nvSpPr>
        <p:spPr>
          <a:xfrm>
            <a:off x="786384" y="2761488"/>
            <a:ext cx="2322576" cy="338328"/>
          </a:xfrm>
          <a:prstGeom prst="rect">
            <a:avLst/>
          </a:prstGeom>
          <a:noFill/>
        </p:spPr>
        <p:txBody>
          <a:bodyPr wrap="square" lIns="0" rIns="0" tIns="0" bIns="0" anchor="t">
            <a:spAutoFit/>
          </a:bodyPr>
          <a:lstStyle/>
          <a:p>
            <a:r>
              <a:rPr sz="1900" b="1" spc="75">
                <a:solidFill>
                  <a:srgbClr val="F5F8FC"/>
                </a:solidFill>
                <a:latin typeface="Aptos"/>
              </a:rPr>
              <a:t>REPLAY</a:t>
            </a:r>
          </a:p>
        </p:txBody>
      </p:sp>
      <p:sp>
        <p:nvSpPr>
          <p:cNvPr id="11" name="TextBox 10"/>
          <p:cNvSpPr txBox="1"/>
          <p:nvPr/>
        </p:nvSpPr>
        <p:spPr>
          <a:xfrm>
            <a:off x="786384"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Give the system dated facts and later updates</a:t>
            </a:r>
          </a:p>
        </p:txBody>
      </p:sp>
      <p:sp>
        <p:nvSpPr>
          <p:cNvPr id="12" name="Rectangle 11"/>
          <p:cNvSpPr/>
          <p:nvPr/>
        </p:nvSpPr>
        <p:spPr>
          <a:xfrm>
            <a:off x="786384"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Python  ·  PyYAML</a:t>
            </a:r>
          </a:p>
          <a:p>
            <a:pPr>
              <a:lnSpc>
                <a:spcPct val="125000"/>
              </a:lnSpc>
            </a:pPr>
            <a:r>
              <a:rPr sz="1050" b="0">
                <a:solidFill>
                  <a:srgbClr val="51E1C2"/>
                </a:solidFill>
                <a:latin typeface="Aptos"/>
              </a:rPr>
              <a:t>dated session fixtures</a:t>
            </a:r>
          </a:p>
        </p:txBody>
      </p:sp>
      <p:sp>
        <p:nvSpPr>
          <p:cNvPr id="14" name="TextBox 13"/>
          <p:cNvSpPr txBox="1"/>
          <p:nvPr/>
        </p:nvSpPr>
        <p:spPr>
          <a:xfrm>
            <a:off x="3328416" y="3090672"/>
            <a:ext cx="201168" cy="320040"/>
          </a:xfrm>
          <a:prstGeom prst="rect">
            <a:avLst/>
          </a:prstGeom>
          <a:noFill/>
        </p:spPr>
        <p:txBody>
          <a:bodyPr wrap="square" lIns="0" rIns="0" tIns="0" bIns="0" anchor="t">
            <a:spAutoFit/>
          </a:bodyPr>
          <a:lstStyle/>
          <a:p>
            <a:pPr algn="ctr"/>
            <a:r>
              <a:rPr sz="1600" b="0">
                <a:solidFill>
                  <a:srgbClr val="71849C"/>
                </a:solidFill>
                <a:latin typeface="Aptos"/>
              </a:rPr>
              <a:t>→</a:t>
            </a:r>
          </a:p>
        </p:txBody>
      </p:sp>
      <p:sp>
        <p:nvSpPr>
          <p:cNvPr id="15" name="Rounded Rectangle 14"/>
          <p:cNvSpPr/>
          <p:nvPr/>
        </p:nvSpPr>
        <p:spPr>
          <a:xfrm>
            <a:off x="3474720"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75888" y="2212848"/>
            <a:ext cx="914400" cy="411480"/>
          </a:xfrm>
          <a:prstGeom prst="rect">
            <a:avLst/>
          </a:prstGeom>
          <a:noFill/>
        </p:spPr>
        <p:txBody>
          <a:bodyPr wrap="square" lIns="0" rIns="0" tIns="0" bIns="0" anchor="t">
            <a:spAutoFit/>
          </a:bodyPr>
          <a:lstStyle/>
          <a:p>
            <a:r>
              <a:rPr sz="2900" b="1">
                <a:solidFill>
                  <a:srgbClr val="51E1C2"/>
                </a:solidFill>
                <a:latin typeface="Aptos Display"/>
              </a:rPr>
              <a:t>02</a:t>
            </a:r>
          </a:p>
        </p:txBody>
      </p:sp>
      <p:sp>
        <p:nvSpPr>
          <p:cNvPr id="17" name="TextBox 16"/>
          <p:cNvSpPr txBox="1"/>
          <p:nvPr/>
        </p:nvSpPr>
        <p:spPr>
          <a:xfrm>
            <a:off x="3675888" y="2761488"/>
            <a:ext cx="2322576" cy="338328"/>
          </a:xfrm>
          <a:prstGeom prst="rect">
            <a:avLst/>
          </a:prstGeom>
          <a:noFill/>
        </p:spPr>
        <p:txBody>
          <a:bodyPr wrap="square" lIns="0" rIns="0" tIns="0" bIns="0" anchor="t">
            <a:spAutoFit/>
          </a:bodyPr>
          <a:lstStyle/>
          <a:p>
            <a:r>
              <a:rPr sz="1900" b="1" spc="75">
                <a:solidFill>
                  <a:srgbClr val="F5F8FC"/>
                </a:solidFill>
                <a:latin typeface="Aptos"/>
              </a:rPr>
              <a:t>PROBE</a:t>
            </a:r>
          </a:p>
        </p:txBody>
      </p:sp>
      <p:sp>
        <p:nvSpPr>
          <p:cNvPr id="18" name="TextBox 17"/>
          <p:cNvSpPr txBox="1"/>
          <p:nvPr/>
        </p:nvSpPr>
        <p:spPr>
          <a:xfrm>
            <a:off x="3675888"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Ask targeted test questions</a:t>
            </a:r>
          </a:p>
        </p:txBody>
      </p:sp>
      <p:sp>
        <p:nvSpPr>
          <p:cNvPr id="19" name="Rectangle 18"/>
          <p:cNvSpPr/>
          <p:nvPr/>
        </p:nvSpPr>
        <p:spPr>
          <a:xfrm>
            <a:off x="3675888"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LiteLLM gateway</a:t>
            </a:r>
          </a:p>
          <a:p>
            <a:pPr>
              <a:lnSpc>
                <a:spcPct val="125000"/>
              </a:lnSpc>
            </a:pPr>
            <a:r>
              <a:rPr sz="1050" b="0">
                <a:solidFill>
                  <a:srgbClr val="51E1C2"/>
                </a:solidFill>
                <a:latin typeface="Aptos"/>
              </a:rPr>
              <a:t>Claude Opus  ·  disk cache</a:t>
            </a:r>
          </a:p>
        </p:txBody>
      </p:sp>
      <p:sp>
        <p:nvSpPr>
          <p:cNvPr id="21" name="TextBox 20"/>
          <p:cNvSpPr txBox="1"/>
          <p:nvPr/>
        </p:nvSpPr>
        <p:spPr>
          <a:xfrm>
            <a:off x="6217920" y="3090672"/>
            <a:ext cx="201168" cy="320040"/>
          </a:xfrm>
          <a:prstGeom prst="rect">
            <a:avLst/>
          </a:prstGeom>
          <a:noFill/>
        </p:spPr>
        <p:txBody>
          <a:bodyPr wrap="square" lIns="0" rIns="0" tIns="0" bIns="0" anchor="t">
            <a:spAutoFit/>
          </a:bodyPr>
          <a:lstStyle/>
          <a:p>
            <a:pPr algn="ctr"/>
            <a:r>
              <a:rPr sz="1600" b="0">
                <a:solidFill>
                  <a:srgbClr val="71849C"/>
                </a:solidFill>
                <a:latin typeface="Aptos"/>
              </a:rPr>
              <a:t>→</a:t>
            </a:r>
          </a:p>
        </p:txBody>
      </p:sp>
      <p:sp>
        <p:nvSpPr>
          <p:cNvPr id="22" name="Rounded Rectangle 21"/>
          <p:cNvSpPr/>
          <p:nvPr/>
        </p:nvSpPr>
        <p:spPr>
          <a:xfrm>
            <a:off x="6364224"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65392" y="2212848"/>
            <a:ext cx="914400" cy="411480"/>
          </a:xfrm>
          <a:prstGeom prst="rect">
            <a:avLst/>
          </a:prstGeom>
          <a:noFill/>
        </p:spPr>
        <p:txBody>
          <a:bodyPr wrap="square" lIns="0" rIns="0" tIns="0" bIns="0" anchor="t">
            <a:spAutoFit/>
          </a:bodyPr>
          <a:lstStyle/>
          <a:p>
            <a:r>
              <a:rPr sz="2900" b="1">
                <a:solidFill>
                  <a:srgbClr val="51E1C2"/>
                </a:solidFill>
                <a:latin typeface="Aptos Display"/>
              </a:rPr>
              <a:t>03</a:t>
            </a:r>
          </a:p>
        </p:txBody>
      </p:sp>
      <p:sp>
        <p:nvSpPr>
          <p:cNvPr id="24" name="TextBox 23"/>
          <p:cNvSpPr txBox="1"/>
          <p:nvPr/>
        </p:nvSpPr>
        <p:spPr>
          <a:xfrm>
            <a:off x="6565392" y="2761488"/>
            <a:ext cx="2322576" cy="338328"/>
          </a:xfrm>
          <a:prstGeom prst="rect">
            <a:avLst/>
          </a:prstGeom>
          <a:noFill/>
        </p:spPr>
        <p:txBody>
          <a:bodyPr wrap="square" lIns="0" rIns="0" tIns="0" bIns="0" anchor="t">
            <a:spAutoFit/>
          </a:bodyPr>
          <a:lstStyle/>
          <a:p>
            <a:r>
              <a:rPr sz="1900" b="1" spc="75">
                <a:solidFill>
                  <a:srgbClr val="F5F8FC"/>
                </a:solidFill>
                <a:latin typeface="Aptos"/>
              </a:rPr>
              <a:t>VERIFY</a:t>
            </a:r>
          </a:p>
        </p:txBody>
      </p:sp>
      <p:sp>
        <p:nvSpPr>
          <p:cNvPr id="25" name="TextBox 24"/>
          <p:cNvSpPr txBox="1"/>
          <p:nvPr/>
        </p:nvSpPr>
        <p:spPr>
          <a:xfrm>
            <a:off x="6565392"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Compare with an independent answer key</a:t>
            </a:r>
          </a:p>
        </p:txBody>
      </p:sp>
      <p:sp>
        <p:nvSpPr>
          <p:cNvPr id="26" name="Rectangle 25"/>
          <p:cNvSpPr/>
          <p:nvPr/>
        </p:nvSpPr>
        <p:spPr>
          <a:xfrm>
            <a:off x="6565392"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65392"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Deterministic scorer</a:t>
            </a:r>
          </a:p>
          <a:p>
            <a:pPr>
              <a:lnSpc>
                <a:spcPct val="125000"/>
              </a:lnSpc>
            </a:pPr>
            <a:r>
              <a:rPr sz="1050" b="0">
                <a:solidFill>
                  <a:srgbClr val="51E1C2"/>
                </a:solidFill>
                <a:latin typeface="Aptos"/>
              </a:rPr>
              <a:t>pytest regression suite</a:t>
            </a:r>
          </a:p>
        </p:txBody>
      </p:sp>
      <p:sp>
        <p:nvSpPr>
          <p:cNvPr id="28" name="TextBox 27"/>
          <p:cNvSpPr txBox="1"/>
          <p:nvPr/>
        </p:nvSpPr>
        <p:spPr>
          <a:xfrm>
            <a:off x="9107424" y="3090672"/>
            <a:ext cx="201168" cy="320040"/>
          </a:xfrm>
          <a:prstGeom prst="rect">
            <a:avLst/>
          </a:prstGeom>
          <a:noFill/>
        </p:spPr>
        <p:txBody>
          <a:bodyPr wrap="square" lIns="0" rIns="0" tIns="0" bIns="0" anchor="t">
            <a:spAutoFit/>
          </a:bodyPr>
          <a:lstStyle/>
          <a:p>
            <a:pPr algn="ctr"/>
            <a:r>
              <a:rPr sz="1600" b="0">
                <a:solidFill>
                  <a:srgbClr val="71849C"/>
                </a:solidFill>
                <a:latin typeface="Aptos"/>
              </a:rPr>
              <a:t>→</a:t>
            </a:r>
          </a:p>
        </p:txBody>
      </p:sp>
      <p:sp>
        <p:nvSpPr>
          <p:cNvPr id="29" name="Rounded Rectangle 28"/>
          <p:cNvSpPr/>
          <p:nvPr/>
        </p:nvSpPr>
        <p:spPr>
          <a:xfrm>
            <a:off x="9253728" y="2011680"/>
            <a:ext cx="2706624" cy="274320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454896" y="2212848"/>
            <a:ext cx="914400" cy="411480"/>
          </a:xfrm>
          <a:prstGeom prst="rect">
            <a:avLst/>
          </a:prstGeom>
          <a:noFill/>
        </p:spPr>
        <p:txBody>
          <a:bodyPr wrap="square" lIns="0" rIns="0" tIns="0" bIns="0" anchor="t">
            <a:spAutoFit/>
          </a:bodyPr>
          <a:lstStyle/>
          <a:p>
            <a:r>
              <a:rPr sz="2900" b="1">
                <a:solidFill>
                  <a:srgbClr val="FFB864"/>
                </a:solidFill>
                <a:latin typeface="Aptos Display"/>
              </a:rPr>
              <a:t>04</a:t>
            </a:r>
          </a:p>
        </p:txBody>
      </p:sp>
      <p:sp>
        <p:nvSpPr>
          <p:cNvPr id="31" name="TextBox 30"/>
          <p:cNvSpPr txBox="1"/>
          <p:nvPr/>
        </p:nvSpPr>
        <p:spPr>
          <a:xfrm>
            <a:off x="9454896" y="2761488"/>
            <a:ext cx="2322576" cy="338328"/>
          </a:xfrm>
          <a:prstGeom prst="rect">
            <a:avLst/>
          </a:prstGeom>
          <a:noFill/>
        </p:spPr>
        <p:txBody>
          <a:bodyPr wrap="square" lIns="0" rIns="0" tIns="0" bIns="0" anchor="t">
            <a:spAutoFit/>
          </a:bodyPr>
          <a:lstStyle/>
          <a:p>
            <a:r>
              <a:rPr sz="1900" b="1" spc="75">
                <a:solidFill>
                  <a:srgbClr val="F5F8FC"/>
                </a:solidFill>
                <a:latin typeface="Aptos"/>
              </a:rPr>
              <a:t>EXPLAIN</a:t>
            </a:r>
          </a:p>
        </p:txBody>
      </p:sp>
      <p:sp>
        <p:nvSpPr>
          <p:cNvPr id="32" name="TextBox 31"/>
          <p:cNvSpPr txBox="1"/>
          <p:nvPr/>
        </p:nvSpPr>
        <p:spPr>
          <a:xfrm>
            <a:off x="9454896" y="3218688"/>
            <a:ext cx="2322576" cy="731520"/>
          </a:xfrm>
          <a:prstGeom prst="rect">
            <a:avLst/>
          </a:prstGeom>
          <a:noFill/>
        </p:spPr>
        <p:txBody>
          <a:bodyPr wrap="square" lIns="0" rIns="0" tIns="0" bIns="0" anchor="t">
            <a:spAutoFit/>
          </a:bodyPr>
          <a:lstStyle/>
          <a:p>
            <a:pPr>
              <a:lnSpc>
                <a:spcPct val="122000"/>
              </a:lnSpc>
            </a:pPr>
            <a:r>
              <a:rPr sz="1450" b="0">
                <a:solidFill>
                  <a:srgbClr val="A2B4C9"/>
                </a:solidFill>
                <a:latin typeface="Aptos"/>
              </a:rPr>
              <a:t>Flag errors and show supporting evidence</a:t>
            </a:r>
          </a:p>
        </p:txBody>
      </p:sp>
      <p:sp>
        <p:nvSpPr>
          <p:cNvPr id="33" name="Rectangle 32"/>
          <p:cNvSpPr/>
          <p:nvPr/>
        </p:nvSpPr>
        <p:spPr>
          <a:xfrm>
            <a:off x="9454896" y="4041648"/>
            <a:ext cx="2304288"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54896" y="4169663"/>
            <a:ext cx="2322576" cy="512064"/>
          </a:xfrm>
          <a:prstGeom prst="rect">
            <a:avLst/>
          </a:prstGeom>
          <a:noFill/>
        </p:spPr>
        <p:txBody>
          <a:bodyPr wrap="square" lIns="0" rIns="0" tIns="0" bIns="0" anchor="t">
            <a:spAutoFit/>
          </a:bodyPr>
          <a:lstStyle/>
          <a:p>
            <a:pPr>
              <a:lnSpc>
                <a:spcPct val="125000"/>
              </a:lnSpc>
            </a:pPr>
            <a:r>
              <a:rPr sz="1050" b="0">
                <a:solidFill>
                  <a:srgbClr val="51E1C2"/>
                </a:solidFill>
                <a:latin typeface="Aptos"/>
              </a:rPr>
              <a:t>Streamlit dashboard</a:t>
            </a:r>
          </a:p>
          <a:p>
            <a:pPr>
              <a:lnSpc>
                <a:spcPct val="125000"/>
              </a:lnSpc>
            </a:pPr>
            <a:r>
              <a:rPr sz="1050" b="0">
                <a:solidFill>
                  <a:srgbClr val="51E1C2"/>
                </a:solidFill>
                <a:latin typeface="Aptos"/>
              </a:rPr>
              <a:t>JSONL run log</a:t>
            </a:r>
          </a:p>
        </p:txBody>
      </p:sp>
      <p:sp>
        <p:nvSpPr>
          <p:cNvPr id="35" name="Rounded Rectangle 34"/>
          <p:cNvSpPr/>
          <p:nvPr/>
        </p:nvSpPr>
        <p:spPr>
          <a:xfrm>
            <a:off x="594360" y="4974336"/>
            <a:ext cx="10991088" cy="768096"/>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6112" y="4974336"/>
            <a:ext cx="10387584" cy="768096"/>
          </a:xfrm>
          <a:prstGeom prst="rect">
            <a:avLst/>
          </a:prstGeom>
          <a:noFill/>
        </p:spPr>
        <p:txBody>
          <a:bodyPr wrap="square" lIns="0" rIns="0" tIns="0" bIns="0" anchor="ctr">
            <a:spAutoFit/>
          </a:bodyPr>
          <a:lstStyle/>
          <a:p>
            <a:pPr algn="ctr"/>
            <a:r>
              <a:rPr sz="1350" b="0">
                <a:solidFill>
                  <a:srgbClr val="A2B4C9"/>
                </a:solidFill>
                <a:latin typeface="Aptos"/>
              </a:rPr>
              <a:t>Memory backends under test:  </a:t>
            </a:r>
            <a:r>
              <a:rPr sz="1350" b="1">
                <a:solidFill>
                  <a:srgbClr val="F5F8FC"/>
                </a:solidFill>
                <a:latin typeface="Aptos"/>
              </a:rPr>
              <a:t>full history</a:t>
            </a:r>
            <a:r>
              <a:rPr sz="1350" b="0">
                <a:solidFill>
                  <a:srgbClr val="71849C"/>
                </a:solidFill>
                <a:latin typeface="Aptos"/>
              </a:rPr>
              <a:t>  ·  </a:t>
            </a:r>
            <a:r>
              <a:rPr sz="1350" b="1">
                <a:solidFill>
                  <a:srgbClr val="F5F8FC"/>
                </a:solidFill>
                <a:latin typeface="Aptos"/>
              </a:rPr>
              <a:t>LangGraph-style latest-per-key reducer</a:t>
            </a:r>
            <a:r>
              <a:rPr sz="1350" b="0">
                <a:solidFill>
                  <a:srgbClr val="71849C"/>
                </a:solidFill>
                <a:latin typeface="Aptos"/>
              </a:rPr>
              <a:t>  ·  </a:t>
            </a:r>
            <a:r>
              <a:rPr sz="1350" b="1">
                <a:solidFill>
                  <a:srgbClr val="F5F8FC"/>
                </a:solidFill>
                <a:latin typeface="Aptos"/>
              </a:rPr>
              <a:t>LiteLLM token-budget trim</a:t>
            </a:r>
            <a:r>
              <a:rPr sz="1350" b="0">
                <a:solidFill>
                  <a:srgbClr val="A2B4C9"/>
                </a:solidFill>
                <a:latin typeface="Aptos"/>
              </a:rPr>
              <a:t>     Service: </a:t>
            </a:r>
            <a:r>
              <a:rPr sz="1350" b="1">
                <a:solidFill>
                  <a:srgbClr val="F5F8FC"/>
                </a:solidFill>
                <a:latin typeface="Aptos"/>
              </a:rPr>
              <a:t>FastAPI</a:t>
            </a:r>
          </a:p>
        </p:txBody>
      </p:sp>
      <p:sp>
        <p:nvSpPr>
          <p:cNvPr id="37" name="TextBox 36"/>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Every backend implements one frozen interface, so the memory layer is the only variable. RegWatch tests accessible, controlled memory systems; it cannot read hidden third-party AI memory.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LIVE DEMONSTRATION  /  REGWATCH AI</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05</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Shape 4"/>
          <p:cNvSpPr/>
          <p:nvPr/>
        </p:nvSpPr>
        <p:spPr>
          <a:xfrm>
            <a:off x="585216" y="969264"/>
            <a:ext cx="4297680" cy="347472"/>
          </a:xfrm>
          <a:prstGeom prst="roundRect">
            <a:avLst>
              <a:gd name="adj" fmla="val 42105"/>
            </a:avLst>
          </a:prstGeom>
          <a:solidFill>
            <a:srgbClr val="19273A"/>
          </a:solidFill>
          <a:ln w="10160">
            <a:solidFill>
              <a:srgbClr val="2C4058"/>
            </a:solidFill>
            <a:prstDash val="solid"/>
          </a:ln>
        </p:spPr>
      </p:sp>
      <p:sp>
        <p:nvSpPr>
          <p:cNvPr id="7" name="Text 5"/>
          <p:cNvSpPr/>
          <p:nvPr/>
        </p:nvSpPr>
        <p:spPr>
          <a:xfrm>
            <a:off x="704088" y="1042416"/>
            <a:ext cx="4069080"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NOW: WALK THROUGH THE PROTOTYPE</a:t>
            </a:r>
            <a:endParaRPr lang="en-US" sz="1020" dirty="0"/>
          </a:p>
        </p:txBody>
      </p:sp>
      <p:sp>
        <p:nvSpPr>
          <p:cNvPr id="8" name="Text 6"/>
          <p:cNvSpPr/>
          <p:nvPr/>
        </p:nvSpPr>
        <p:spPr>
          <a:xfrm>
            <a:off x="585216" y="1591056"/>
            <a:ext cx="11009376" cy="749808"/>
          </a:xfrm>
          <a:prstGeom prst="rect">
            <a:avLst/>
          </a:prstGeom>
          <a:noFill/>
          <a:ln/>
        </p:spPr>
        <p:txBody>
          <a:bodyPr wrap="square" lIns="0" tIns="0" rIns="0" bIns="0" rtlCol="0" anchor="ctr">
            <a:normAutofit/>
          </a:bodyPr>
          <a:lstStyle/>
          <a:p>
            <a:pPr indent="0" marL="0">
              <a:buNone/>
            </a:pPr>
            <a:r>
              <a:rPr lang="en-US" sz="4500" b="1" dirty="0">
                <a:solidFill>
                  <a:srgbClr val="F5F8FC"/>
                </a:solidFill>
                <a:latin typeface="Aptos Display" pitchFamily="34" charset="0"/>
                <a:ea typeface="Aptos Display" pitchFamily="34" charset="-122"/>
                <a:cs typeface="Aptos Display" pitchFamily="34" charset="-120"/>
              </a:rPr>
              <a:t>Let’s test what</a:t>
            </a:r>
            <a:endParaRPr lang="en-US" sz="4500" dirty="0"/>
          </a:p>
        </p:txBody>
      </p:sp>
      <p:sp>
        <p:nvSpPr>
          <p:cNvPr id="9" name="Text 7"/>
          <p:cNvSpPr/>
          <p:nvPr/>
        </p:nvSpPr>
        <p:spPr>
          <a:xfrm>
            <a:off x="585216" y="2340864"/>
            <a:ext cx="11009376" cy="832104"/>
          </a:xfrm>
          <a:prstGeom prst="rect">
            <a:avLst/>
          </a:prstGeom>
          <a:noFill/>
          <a:ln/>
        </p:spPr>
        <p:txBody>
          <a:bodyPr wrap="square" lIns="0" tIns="0" rIns="0" bIns="0" rtlCol="0" anchor="ctr">
            <a:normAutofit/>
          </a:bodyPr>
          <a:lstStyle/>
          <a:p>
            <a:pPr indent="0" marL="0">
              <a:buNone/>
            </a:pPr>
            <a:r>
              <a:rPr lang="en-US" sz="4700" b="1" dirty="0">
                <a:solidFill>
                  <a:srgbClr val="51E1C2"/>
                </a:solidFill>
                <a:latin typeface="Aptos Display" pitchFamily="34" charset="0"/>
                <a:ea typeface="Aptos Display" pitchFamily="34" charset="-122"/>
                <a:cs typeface="Aptos Display" pitchFamily="34" charset="-120"/>
              </a:rPr>
              <a:t>the AI remembers.</a:t>
            </a:r>
            <a:endParaRPr lang="en-US" sz="4700" dirty="0"/>
          </a:p>
        </p:txBody>
      </p:sp>
      <p:sp>
        <p:nvSpPr>
          <p:cNvPr id="10" name="Shape 8"/>
          <p:cNvSpPr/>
          <p:nvPr/>
        </p:nvSpPr>
        <p:spPr>
          <a:xfrm>
            <a:off x="585216" y="3410712"/>
            <a:ext cx="11009376" cy="1554480"/>
          </a:xfrm>
          <a:prstGeom prst="roundRect">
            <a:avLst>
              <a:gd name="adj" fmla="val 9412"/>
            </a:avLst>
          </a:prstGeom>
          <a:solidFill>
            <a:srgbClr val="121E30"/>
          </a:solidFill>
          <a:ln w="10160">
            <a:solidFill>
              <a:srgbClr val="2C4058"/>
            </a:solidFill>
            <a:prstDash val="solid"/>
          </a:ln>
        </p:spPr>
      </p:sp>
      <p:sp>
        <p:nvSpPr>
          <p:cNvPr id="11" name="Shape 9"/>
          <p:cNvSpPr/>
          <p:nvPr/>
        </p:nvSpPr>
        <p:spPr>
          <a:xfrm>
            <a:off x="822960" y="3721608"/>
            <a:ext cx="310896" cy="310896"/>
          </a:xfrm>
          <a:prstGeom prst="ellipse">
            <a:avLst/>
          </a:prstGeom>
          <a:solidFill>
            <a:srgbClr val="51E1C2"/>
          </a:solidFill>
          <a:ln w="12700">
            <a:solidFill>
              <a:srgbClr val="51E1C2">
                <a:alpha val="0"/>
              </a:srgbClr>
            </a:solidFill>
            <a:prstDash val="solid"/>
          </a:ln>
        </p:spPr>
      </p:sp>
      <p:sp>
        <p:nvSpPr>
          <p:cNvPr id="12" name="Text 10"/>
          <p:cNvSpPr/>
          <p:nvPr/>
        </p:nvSpPr>
        <p:spPr>
          <a:xfrm>
            <a:off x="914400"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1</a:t>
            </a:r>
            <a:endParaRPr lang="en-US" sz="1100" dirty="0"/>
          </a:p>
        </p:txBody>
      </p:sp>
      <p:sp>
        <p:nvSpPr>
          <p:cNvPr id="13" name="Text 11"/>
          <p:cNvSpPr/>
          <p:nvPr/>
        </p:nvSpPr>
        <p:spPr>
          <a:xfrm>
            <a:off x="1234440"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Old + new information</a:t>
            </a:r>
            <a:endParaRPr lang="en-US" sz="1520" dirty="0"/>
          </a:p>
        </p:txBody>
      </p:sp>
      <p:sp>
        <p:nvSpPr>
          <p:cNvPr id="14" name="Shape 12"/>
          <p:cNvSpPr/>
          <p:nvPr/>
        </p:nvSpPr>
        <p:spPr>
          <a:xfrm>
            <a:off x="3575304" y="3721608"/>
            <a:ext cx="310896" cy="310896"/>
          </a:xfrm>
          <a:prstGeom prst="ellipse">
            <a:avLst/>
          </a:prstGeom>
          <a:solidFill>
            <a:srgbClr val="51E1C2"/>
          </a:solidFill>
          <a:ln w="12700">
            <a:solidFill>
              <a:srgbClr val="51E1C2">
                <a:alpha val="0"/>
              </a:srgbClr>
            </a:solidFill>
            <a:prstDash val="solid"/>
          </a:ln>
        </p:spPr>
      </p:sp>
      <p:sp>
        <p:nvSpPr>
          <p:cNvPr id="15" name="Text 13"/>
          <p:cNvSpPr/>
          <p:nvPr/>
        </p:nvSpPr>
        <p:spPr>
          <a:xfrm>
            <a:off x="3666744"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2</a:t>
            </a:r>
            <a:endParaRPr lang="en-US" sz="1100" dirty="0"/>
          </a:p>
        </p:txBody>
      </p:sp>
      <p:sp>
        <p:nvSpPr>
          <p:cNvPr id="16" name="Text 14"/>
          <p:cNvSpPr/>
          <p:nvPr/>
        </p:nvSpPr>
        <p:spPr>
          <a:xfrm>
            <a:off x="3986784"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One probe, all systems</a:t>
            </a:r>
            <a:endParaRPr lang="en-US" sz="1520" dirty="0"/>
          </a:p>
        </p:txBody>
      </p:sp>
      <p:sp>
        <p:nvSpPr>
          <p:cNvPr id="17" name="Shape 15"/>
          <p:cNvSpPr/>
          <p:nvPr/>
        </p:nvSpPr>
        <p:spPr>
          <a:xfrm>
            <a:off x="6327648" y="3721608"/>
            <a:ext cx="310896" cy="310896"/>
          </a:xfrm>
          <a:prstGeom prst="ellipse">
            <a:avLst/>
          </a:prstGeom>
          <a:solidFill>
            <a:srgbClr val="51E1C2"/>
          </a:solidFill>
          <a:ln w="12700">
            <a:solidFill>
              <a:srgbClr val="51E1C2">
                <a:alpha val="0"/>
              </a:srgbClr>
            </a:solidFill>
            <a:prstDash val="solid"/>
          </a:ln>
        </p:spPr>
      </p:sp>
      <p:sp>
        <p:nvSpPr>
          <p:cNvPr id="18" name="Text 16"/>
          <p:cNvSpPr/>
          <p:nvPr/>
        </p:nvSpPr>
        <p:spPr>
          <a:xfrm>
            <a:off x="6419088"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3</a:t>
            </a:r>
            <a:endParaRPr lang="en-US" sz="1100" dirty="0"/>
          </a:p>
        </p:txBody>
      </p:sp>
      <p:sp>
        <p:nvSpPr>
          <p:cNvPr id="19" name="Text 17"/>
          <p:cNvSpPr/>
          <p:nvPr/>
        </p:nvSpPr>
        <p:spPr>
          <a:xfrm>
            <a:off x="6739128"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Open a real failure</a:t>
            </a:r>
            <a:endParaRPr lang="en-US" sz="1520" dirty="0"/>
          </a:p>
        </p:txBody>
      </p:sp>
      <p:sp>
        <p:nvSpPr>
          <p:cNvPr id="20" name="Shape 18"/>
          <p:cNvSpPr/>
          <p:nvPr/>
        </p:nvSpPr>
        <p:spPr>
          <a:xfrm>
            <a:off x="9079992" y="3721608"/>
            <a:ext cx="310896" cy="310896"/>
          </a:xfrm>
          <a:prstGeom prst="ellipse">
            <a:avLst/>
          </a:prstGeom>
          <a:solidFill>
            <a:srgbClr val="FFB864"/>
          </a:solidFill>
          <a:ln w="12700">
            <a:solidFill>
              <a:srgbClr val="FFB864">
                <a:alpha val="0"/>
              </a:srgbClr>
            </a:solidFill>
            <a:prstDash val="solid"/>
          </a:ln>
        </p:spPr>
      </p:sp>
      <p:sp>
        <p:nvSpPr>
          <p:cNvPr id="21" name="Text 19"/>
          <p:cNvSpPr/>
          <p:nvPr/>
        </p:nvSpPr>
        <p:spPr>
          <a:xfrm>
            <a:off x="9171432" y="3767328"/>
            <a:ext cx="137160" cy="164592"/>
          </a:xfrm>
          <a:prstGeom prst="rect">
            <a:avLst/>
          </a:prstGeom>
          <a:noFill/>
          <a:ln/>
        </p:spPr>
        <p:txBody>
          <a:bodyPr wrap="square" lIns="0" tIns="0" rIns="0" bIns="0" rtlCol="0" anchor="ctr">
            <a:normAutofit/>
          </a:bodyPr>
          <a:lstStyle/>
          <a:p>
            <a:pPr algn="ctr" indent="0" marL="0">
              <a:buNone/>
            </a:pPr>
            <a:r>
              <a:rPr lang="en-US" sz="1100" b="1" dirty="0">
                <a:solidFill>
                  <a:srgbClr val="0A1220"/>
                </a:solidFill>
                <a:latin typeface="Aptos" pitchFamily="34" charset="0"/>
                <a:ea typeface="Aptos" pitchFamily="34" charset="-122"/>
                <a:cs typeface="Aptos" pitchFamily="34" charset="-120"/>
              </a:rPr>
              <a:t>4</a:t>
            </a:r>
            <a:endParaRPr lang="en-US" sz="1100" dirty="0"/>
          </a:p>
        </p:txBody>
      </p:sp>
      <p:sp>
        <p:nvSpPr>
          <p:cNvPr id="22" name="Text 20"/>
          <p:cNvSpPr/>
          <p:nvPr/>
        </p:nvSpPr>
        <p:spPr>
          <a:xfrm>
            <a:off x="9491472" y="3685032"/>
            <a:ext cx="2157984" cy="457200"/>
          </a:xfrm>
          <a:prstGeom prst="rect">
            <a:avLst/>
          </a:prstGeom>
          <a:noFill/>
          <a:ln/>
        </p:spPr>
        <p:txBody>
          <a:bodyPr wrap="square" lIns="0" tIns="0" rIns="0" bIns="0" rtlCol="0" anchor="ctr">
            <a:normAutofit/>
          </a:bodyPr>
          <a:lstStyle/>
          <a:p>
            <a:pPr indent="0" marL="0">
              <a:buNone/>
            </a:pPr>
            <a:r>
              <a:rPr lang="en-US" sz="1520" b="1" dirty="0">
                <a:solidFill>
                  <a:srgbClr val="F5F8FC"/>
                </a:solidFill>
                <a:latin typeface="Aptos" pitchFamily="34" charset="0"/>
                <a:ea typeface="Aptos" pitchFamily="34" charset="-122"/>
                <a:cs typeface="Aptos" pitchFamily="34" charset="-120"/>
              </a:rPr>
              <a:t>Inspect the evidence</a:t>
            </a:r>
            <a:endParaRPr lang="en-US" sz="1520" dirty="0"/>
          </a:p>
        </p:txBody>
      </p:sp>
      <p:sp>
        <p:nvSpPr>
          <p:cNvPr id="23" name="Shape 21"/>
          <p:cNvSpPr/>
          <p:nvPr/>
        </p:nvSpPr>
        <p:spPr>
          <a:xfrm>
            <a:off x="585216" y="5230368"/>
            <a:ext cx="7534656" cy="704088"/>
          </a:xfrm>
          <a:prstGeom prst="roundRect">
            <a:avLst>
              <a:gd name="adj" fmla="val 20779"/>
            </a:avLst>
          </a:prstGeom>
          <a:solidFill>
            <a:srgbClr val="0C534A"/>
          </a:solidFill>
          <a:ln w="10160">
            <a:solidFill>
              <a:srgbClr val="51E1C2"/>
            </a:solidFill>
            <a:prstDash val="solid"/>
          </a:ln>
        </p:spPr>
      </p:sp>
      <p:sp>
        <p:nvSpPr>
          <p:cNvPr id="24" name="Text 22"/>
          <p:cNvSpPr/>
          <p:nvPr/>
        </p:nvSpPr>
        <p:spPr>
          <a:xfrm>
            <a:off x="804672" y="5404104"/>
            <a:ext cx="6995160" cy="329184"/>
          </a:xfrm>
          <a:prstGeom prst="rect">
            <a:avLst/>
          </a:prstGeom>
          <a:noFill/>
          <a:ln/>
        </p:spPr>
        <p:txBody>
          <a:bodyPr wrap="square" lIns="0" tIns="0" rIns="0" bIns="0" rtlCol="0" anchor="ctr">
            <a:normAutofit/>
          </a:bodyPr>
          <a:lstStyle/>
          <a:p>
            <a:pPr indent="0" marL="0">
              <a:buNone/>
            </a:pPr>
            <a:r>
              <a:rPr lang="en-US" sz="1800" b="1" dirty="0">
                <a:solidFill>
                  <a:srgbClr val="F5F8FC"/>
                </a:solidFill>
                <a:latin typeface="Aptos" pitchFamily="34" charset="0"/>
                <a:ea typeface="Aptos" pitchFamily="34" charset="-122"/>
                <a:cs typeface="Aptos" pitchFamily="34" charset="-120"/>
              </a:rPr>
              <a:t>DEMO  •  SWITCH TO THE BROWSER APP</a:t>
            </a:r>
            <a:endParaRPr lang="en-US" sz="1800" dirty="0"/>
          </a:p>
        </p:txBody>
      </p:sp>
      <p:sp>
        <p:nvSpPr>
          <p:cNvPr id="25" name="Shape 23"/>
          <p:cNvSpPr/>
          <p:nvPr/>
        </p:nvSpPr>
        <p:spPr>
          <a:xfrm>
            <a:off x="8321040" y="5230368"/>
            <a:ext cx="3255264" cy="704088"/>
          </a:xfrm>
          <a:prstGeom prst="roundRect">
            <a:avLst>
              <a:gd name="adj" fmla="val 20779"/>
            </a:avLst>
          </a:prstGeom>
          <a:solidFill>
            <a:srgbClr val="19273A"/>
          </a:solidFill>
          <a:ln w="10160">
            <a:solidFill>
              <a:srgbClr val="2C4058"/>
            </a:solidFill>
            <a:prstDash val="solid"/>
          </a:ln>
        </p:spPr>
      </p:sp>
      <p:sp>
        <p:nvSpPr>
          <p:cNvPr id="26" name="Text 24">
            <a:hlinkClick r:id="rId1" tooltip=""/>
          </p:cNvPr>
          <p:cNvSpPr/>
          <p:nvPr/>
        </p:nvSpPr>
        <p:spPr>
          <a:xfrm>
            <a:off x="8549640" y="5449824"/>
            <a:ext cx="2770632" cy="256032"/>
          </a:xfrm>
          <a:prstGeom prst="rect">
            <a:avLst/>
          </a:prstGeom>
          <a:noFill/>
          <a:ln/>
        </p:spPr>
        <p:txBody>
          <a:bodyPr wrap="square" lIns="0" tIns="0" rIns="0" bIns="0" rtlCol="0" anchor="ctr"/>
          <a:lstStyle/>
          <a:p>
            <a:pPr indent="0" marL="0">
              <a:buNone/>
            </a:pPr>
            <a:r>
              <a:rPr lang="en-US" sz="1270" b="1" u="sng" dirty="0">
                <a:solidFill>
                  <a:srgbClr val="76ACFF"/>
                </a:solidFill>
                <a:hlinkClick r:id="rId1" invalidUrl="" action="" tgtFrame="" tooltip="" history="1" highlightClick="0" endSnd="0">
                  <a:extLst>
                    <a:ext uri="{A12FA001-AC4F-418D-AE19-62706E023703}">
                      <ahyp:hlinkClr xmlns:ahyp="http://schemas.microsoft.com/office/drawing/2018/hyperlinkcolor" val="tx"/>
                    </a:ext>
                  </a:extLst>
                </a:hlinkClick>
              </a:rPr>
              <a:t>SOURCE REPOSITORY ↗</a:t>
            </a:r>
            <a:endParaRPr lang="en-US" sz="1270" dirty="0"/>
          </a:p>
        </p:txBody>
      </p:sp>
      <p:sp>
        <p:nvSpPr>
          <p:cNvPr id="27" name="Text 25"/>
          <p:cNvSpPr/>
          <p:nvPr/>
        </p:nvSpPr>
        <p:spPr>
          <a:xfrm>
            <a:off x="548640" y="6208776"/>
            <a:ext cx="10972800" cy="228600"/>
          </a:xfrm>
          <a:prstGeom prst="rect">
            <a:avLst/>
          </a:prstGeom>
          <a:noFill/>
          <a:ln/>
        </p:spPr>
        <p:txBody>
          <a:bodyPr wrap="square" lIns="0" tIns="0" rIns="0" bIns="0" rtlCol="0" anchor="ctr">
            <a:normAutofit/>
          </a:bodyPr>
          <a:lstStyle/>
          <a:p>
            <a:pPr indent="0" marL="0">
              <a:buNone/>
            </a:pPr>
            <a:r>
              <a:rPr lang="en-US" sz="940" dirty="0">
                <a:solidFill>
                  <a:srgbClr val="71849C"/>
                </a:solidFill>
                <a:latin typeface="Aptos" pitchFamily="34" charset="0"/>
                <a:ea typeface="Aptos" pitchFamily="34" charset="-122"/>
                <a:cs typeface="Aptos" pitchFamily="34" charset="-120"/>
              </a:rPr>
              <a:t>Demo uses synthetic client-preference changes; the same method applies to other authorised AI workflows.</a:t>
            </a:r>
            <a:endParaRPr lang="en-US" sz="9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REGWATCH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06</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Before: you trust it. After: you can test it.</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The goal is a clear engineering decision, not just a score on a chart.</a:t>
            </a:r>
            <a:endParaRPr lang="en-US" sz="1500" dirty="0"/>
          </a:p>
        </p:txBody>
      </p:sp>
      <p:sp>
        <p:nvSpPr>
          <p:cNvPr id="8" name="Shape 6"/>
          <p:cNvSpPr/>
          <p:nvPr/>
        </p:nvSpPr>
        <p:spPr>
          <a:xfrm>
            <a:off x="585216" y="1965960"/>
            <a:ext cx="5394960" cy="3364992"/>
          </a:xfrm>
          <a:prstGeom prst="roundRect">
            <a:avLst>
              <a:gd name="adj" fmla="val 4348"/>
            </a:avLst>
          </a:prstGeom>
          <a:solidFill>
            <a:srgbClr val="121E30"/>
          </a:solidFill>
          <a:ln w="10160">
            <a:solidFill>
              <a:srgbClr val="2C4058"/>
            </a:solidFill>
            <a:prstDash val="solid"/>
          </a:ln>
        </p:spPr>
        <p:txBody>
          <a:bodyPr/>
          <a:p/>
        </p:txBody>
      </p:sp>
      <p:sp>
        <p:nvSpPr>
          <p:cNvPr id="9" name="Shape 7"/>
          <p:cNvSpPr/>
          <p:nvPr/>
        </p:nvSpPr>
        <p:spPr>
          <a:xfrm>
            <a:off x="832104" y="2194560"/>
            <a:ext cx="3108960" cy="347472"/>
          </a:xfrm>
          <a:prstGeom prst="roundRect">
            <a:avLst>
              <a:gd name="adj" fmla="val 42105"/>
            </a:avLst>
          </a:prstGeom>
          <a:solidFill>
            <a:srgbClr val="19273A"/>
          </a:solidFill>
          <a:ln w="10160">
            <a:solidFill>
              <a:srgbClr val="2C4058"/>
            </a:solidFill>
            <a:prstDash val="solid"/>
          </a:ln>
        </p:spPr>
        <p:txBody>
          <a:bodyPr/>
          <a:p/>
        </p:txBody>
      </p:sp>
      <p:sp>
        <p:nvSpPr>
          <p:cNvPr id="10" name="Text 8"/>
          <p:cNvSpPr/>
          <p:nvPr/>
        </p:nvSpPr>
        <p:spPr>
          <a:xfrm>
            <a:off x="950976" y="2267712"/>
            <a:ext cx="2880360" cy="182880"/>
          </a:xfrm>
          <a:prstGeom prst="rect">
            <a:avLst/>
          </a:prstGeom>
          <a:noFill/>
          <a:ln/>
        </p:spPr>
        <p:txBody>
          <a:bodyPr wrap="square" lIns="0" tIns="0" rIns="0" bIns="0" rtlCol="0" anchor="ctr">
            <a:normAutofit/>
          </a:bodyPr>
          <a:lstStyle/>
          <a:p>
            <a:pPr indent="0" marL="0">
              <a:buNone/>
            </a:pPr>
            <a:r>
              <a:rPr lang="en-US" sz="1020" b="1" spc="65" kern="0" dirty="0">
                <a:solidFill>
                  <a:srgbClr val="FF7185"/>
                </a:solidFill>
                <a:latin typeface="Aptos" pitchFamily="34" charset="0"/>
                <a:ea typeface="Aptos" pitchFamily="34" charset="-122"/>
                <a:cs typeface="Aptos" pitchFamily="34" charset="-120"/>
              </a:rPr>
              <a:t>WITHOUT A MEMORY CHECK</a:t>
            </a:r>
            <a:endParaRPr lang="en-US" sz="1020" dirty="0"/>
          </a:p>
        </p:txBody>
      </p:sp>
      <p:sp>
        <p:nvSpPr>
          <p:cNvPr id="11" name="Text 9"/>
          <p:cNvSpPr/>
          <p:nvPr/>
        </p:nvSpPr>
        <p:spPr>
          <a:xfrm>
            <a:off x="859536" y="2706624"/>
            <a:ext cx="4956048" cy="914400"/>
          </a:xfrm>
          <a:prstGeom prst="rect">
            <a:avLst/>
          </a:prstGeom>
          <a:noFill/>
          <a:ln/>
        </p:spPr>
        <p:txBody>
          <a:bodyPr wrap="square" lIns="0" tIns="0" rIns="0" bIns="0" rtlCol="0" anchor="ctr">
            <a:normAutofit/>
          </a:bodyPr>
          <a:lstStyle/>
          <a:p>
            <a:pPr indent="0" marL="0">
              <a:buNone/>
            </a:pPr>
            <a:r>
              <a:rPr lang="en-US" sz="2500" b="1" dirty="0">
                <a:solidFill>
                  <a:srgbClr val="F5F8FC"/>
                </a:solidFill>
                <a:latin typeface="Aptos" pitchFamily="34" charset="0"/>
                <a:ea typeface="Aptos" pitchFamily="34" charset="-122"/>
                <a:cs typeface="Aptos" pitchFamily="34" charset="-120"/>
              </a:rPr>
              <a:t>“Yes — that suits your crypto-heavy profile.”</a:t>
            </a:r>
            <a:endParaRPr lang="en-US" sz="2500" dirty="0"/>
          </a:p>
        </p:txBody>
      </p:sp>
      <p:sp>
        <p:nvSpPr>
          <p:cNvPr id="12" name="Text 10"/>
          <p:cNvSpPr/>
          <p:nvPr/>
        </p:nvSpPr>
        <p:spPr>
          <a:xfrm>
            <a:off x="859536" y="3694176"/>
            <a:ext cx="4690872" cy="1307592"/>
          </a:xfrm>
          <a:prstGeom prst="rect">
            <a:avLst/>
          </a:prstGeom>
          <a:noFill/>
          <a:ln/>
        </p:spPr>
        <p:txBody>
          <a:bodyPr wrap="square" lIns="0" tIns="0" rIns="0" bIns="0" rtlCol="0" anchor="t">
            <a:normAutofit/>
          </a:bodyPr>
          <a:lstStyle/>
          <a:p>
            <a:pPr indent="0" marL="0">
              <a:buNone/>
            </a:pPr>
            <a:r>
              <a:rPr lang="en-US" sz="1700" dirty="0">
                <a:solidFill>
                  <a:srgbClr val="A2B4C9"/>
                </a:solidFill>
                <a:latin typeface="Aptos" pitchFamily="34" charset="0"/>
                <a:ea typeface="Aptos" pitchFamily="34" charset="-122"/>
                <a:cs typeface="Aptos" pitchFamily="34" charset="-120"/>
              </a:rPr>
              <a:t>Sounds right, cites the file</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No systematic update test</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Failure discovered late</a:t>
            </a:r>
            <a:endParaRPr lang="en-US" sz="1700" dirty="0"/>
          </a:p>
        </p:txBody>
      </p:sp>
      <p:sp>
        <p:nvSpPr>
          <p:cNvPr id="13" name="Shape 11"/>
          <p:cNvSpPr/>
          <p:nvPr/>
        </p:nvSpPr>
        <p:spPr>
          <a:xfrm>
            <a:off x="6163056" y="1965960"/>
            <a:ext cx="5413248" cy="3364992"/>
          </a:xfrm>
          <a:prstGeom prst="roundRect">
            <a:avLst>
              <a:gd name="adj" fmla="val 4348"/>
            </a:avLst>
          </a:prstGeom>
          <a:solidFill>
            <a:srgbClr val="121E30"/>
          </a:solidFill>
          <a:ln w="10160">
            <a:solidFill>
              <a:srgbClr val="2C4058"/>
            </a:solidFill>
            <a:prstDash val="solid"/>
          </a:ln>
        </p:spPr>
        <p:txBody>
          <a:bodyPr/>
          <a:p/>
        </p:txBody>
      </p:sp>
      <p:sp>
        <p:nvSpPr>
          <p:cNvPr id="14" name="Shape 12"/>
          <p:cNvSpPr/>
          <p:nvPr/>
        </p:nvSpPr>
        <p:spPr>
          <a:xfrm>
            <a:off x="6419088" y="2194560"/>
            <a:ext cx="2157984" cy="347472"/>
          </a:xfrm>
          <a:prstGeom prst="roundRect">
            <a:avLst>
              <a:gd name="adj" fmla="val 42105"/>
            </a:avLst>
          </a:prstGeom>
          <a:solidFill>
            <a:srgbClr val="19273A"/>
          </a:solidFill>
          <a:ln w="10160">
            <a:solidFill>
              <a:srgbClr val="2C4058"/>
            </a:solidFill>
            <a:prstDash val="solid"/>
          </a:ln>
        </p:spPr>
        <p:txBody>
          <a:bodyPr/>
          <a:p/>
        </p:txBody>
      </p:sp>
      <p:sp>
        <p:nvSpPr>
          <p:cNvPr id="15" name="Text 13"/>
          <p:cNvSpPr/>
          <p:nvPr/>
        </p:nvSpPr>
        <p:spPr>
          <a:xfrm>
            <a:off x="6537960" y="2267712"/>
            <a:ext cx="1929384"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WITH REGWATCH</a:t>
            </a:r>
            <a:endParaRPr lang="en-US" sz="1020" dirty="0"/>
          </a:p>
        </p:txBody>
      </p:sp>
      <p:sp>
        <p:nvSpPr>
          <p:cNvPr id="16" name="Text 14"/>
          <p:cNvSpPr/>
          <p:nvPr/>
        </p:nvSpPr>
        <p:spPr>
          <a:xfrm>
            <a:off x="6419088" y="2770632"/>
            <a:ext cx="4873752" cy="649224"/>
          </a:xfrm>
          <a:prstGeom prst="rect">
            <a:avLst/>
          </a:prstGeom>
          <a:noFill/>
          <a:ln/>
        </p:spPr>
        <p:txBody>
          <a:bodyPr wrap="square" lIns="0" tIns="0" rIns="0" bIns="0" rtlCol="0" anchor="ctr">
            <a:normAutofit/>
          </a:bodyPr>
          <a:lstStyle/>
          <a:p>
            <a:pPr indent="0" marL="0">
              <a:buNone/>
            </a:pPr>
            <a:r>
              <a:rPr lang="en-US" sz="2250" b="1" dirty="0">
                <a:solidFill>
                  <a:srgbClr val="51E1C2"/>
                </a:solidFill>
                <a:latin typeface="Aptos" pitchFamily="34" charset="0"/>
                <a:ea typeface="Aptos" pitchFamily="34" charset="-122"/>
                <a:cs typeface="Aptos" pitchFamily="34" charset="-120"/>
              </a:rPr>
              <a:t>FLAG  →  EVIDENCE  →  RETEST</a:t>
            </a:r>
            <a:endParaRPr lang="en-US" sz="2250" dirty="0"/>
          </a:p>
        </p:txBody>
      </p:sp>
      <p:sp>
        <p:nvSpPr>
          <p:cNvPr id="17" name="Text 15"/>
          <p:cNvSpPr/>
          <p:nvPr/>
        </p:nvSpPr>
        <p:spPr>
          <a:xfrm>
            <a:off x="6437376" y="3703320"/>
            <a:ext cx="4663440" cy="1307592"/>
          </a:xfrm>
          <a:prstGeom prst="rect">
            <a:avLst/>
          </a:prstGeom>
          <a:noFill/>
          <a:ln/>
        </p:spPr>
        <p:txBody>
          <a:bodyPr wrap="square" lIns="0" tIns="0" rIns="0" bIns="0" rtlCol="0" anchor="t">
            <a:normAutofit/>
          </a:bodyPr>
          <a:lstStyle/>
          <a:p>
            <a:pPr indent="0" marL="0">
              <a:buNone/>
            </a:pPr>
            <a:r>
              <a:rPr lang="en-US" sz="1700" dirty="0">
                <a:solidFill>
                  <a:srgbClr val="A2B4C9"/>
                </a:solidFill>
                <a:latin typeface="Aptos" pitchFamily="34" charset="0"/>
                <a:ea typeface="Aptos" pitchFamily="34" charset="-122"/>
                <a:cs typeface="Aptos" pitchFamily="34" charset="-120"/>
              </a:rPr>
              <a:t>Wrong answer is identified</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Old and applicable facts shown</a:t>
            </a:r>
            <a:endParaRPr lang="en-US" sz="1700" dirty="0"/>
          </a:p>
          <a:p>
            <a:pPr indent="0" marL="0">
              <a:buNone/>
            </a:pPr>
            <a:r>
              <a:rPr lang="en-US" sz="1700" dirty="0">
                <a:solidFill>
                  <a:srgbClr val="A2B4C9"/>
                </a:solidFill>
                <a:latin typeface="Aptos" pitchFamily="34" charset="0"/>
                <a:ea typeface="Aptos" pitchFamily="34" charset="-122"/>
                <a:cs typeface="Aptos" pitchFamily="34" charset="-120"/>
              </a:rPr>
              <a:t>Owner can investigate the cause</a:t>
            </a:r>
            <a:endParaRPr lang="en-US" sz="1700" dirty="0"/>
          </a:p>
        </p:txBody>
      </p:sp>
      <p:sp>
        <p:nvSpPr>
          <p:cNvPr id="18" name="Shape 16"/>
          <p:cNvSpPr/>
          <p:nvPr/>
        </p:nvSpPr>
        <p:spPr>
          <a:xfrm>
            <a:off x="1280160" y="5650992"/>
            <a:ext cx="9646920" cy="393192"/>
          </a:xfrm>
          <a:prstGeom prst="roundRect">
            <a:avLst>
              <a:gd name="adj" fmla="val 37209"/>
            </a:avLst>
          </a:prstGeom>
          <a:solidFill>
            <a:srgbClr val="0E1A2B"/>
          </a:solidFill>
          <a:ln w="10160">
            <a:solidFill>
              <a:srgbClr val="2C4058"/>
            </a:solidFill>
            <a:prstDash val="solid"/>
          </a:ln>
        </p:spPr>
        <p:txBody>
          <a:bodyPr/>
          <a:p/>
        </p:txBody>
      </p:sp>
      <p:sp>
        <p:nvSpPr>
          <p:cNvPr id="19" name="Text 17"/>
          <p:cNvSpPr/>
          <p:nvPr/>
        </p:nvSpPr>
        <p:spPr>
          <a:xfrm>
            <a:off x="1527048" y="5742432"/>
            <a:ext cx="9144000" cy="182880"/>
          </a:xfrm>
          <a:prstGeom prst="rect">
            <a:avLst/>
          </a:prstGeom>
          <a:noFill/>
          <a:ln/>
        </p:spPr>
        <p:txBody>
          <a:bodyPr wrap="square" lIns="0" tIns="0" rIns="0" bIns="0" rtlCol="0" anchor="ctr">
            <a:normAutofit/>
          </a:bodyPr>
          <a:lstStyle/>
          <a:p>
            <a:pPr algn="ctr" indent="0" marL="0">
              <a:buNone/>
            </a:pPr>
            <a:r>
              <a:rPr lang="en-US" sz="1180" dirty="0">
                <a:solidFill>
                  <a:srgbClr val="A2B4C9"/>
                </a:solidFill>
                <a:latin typeface="Aptos" pitchFamily="34" charset="0"/>
                <a:ea typeface="Aptos" pitchFamily="34" charset="-122"/>
                <a:cs typeface="Aptos" pitchFamily="34" charset="-120"/>
              </a:rPr>
              <a:t>Now: measurable failures and comparison  •  Later: suggested fixes and optional release gates</a:t>
            </a:r>
            <a:endParaRPr lang="en-US" sz="11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REGWATCH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07</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What we measured: the memory layer moves accuracy 64 points</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100 dated questions  ·  3 memory layers  ·  300 live answers  ·  Claude Opus, one system prompt, scored by code.</a:t>
            </a:r>
          </a:p>
        </p:txBody>
      </p:sp>
      <p:sp>
        <p:nvSpPr>
          <p:cNvPr id="8" name="Rounded Rectangle 7"/>
          <p:cNvSpPr/>
          <p:nvPr/>
        </p:nvSpPr>
        <p:spPr>
          <a:xfrm>
            <a:off x="594360" y="1901952"/>
            <a:ext cx="6876288" cy="3639312"/>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2157984"/>
            <a:ext cx="2377440" cy="201168"/>
          </a:xfrm>
          <a:prstGeom prst="rect">
            <a:avLst/>
          </a:prstGeom>
          <a:noFill/>
        </p:spPr>
        <p:txBody>
          <a:bodyPr wrap="square" lIns="0" rIns="0" tIns="0" bIns="0" anchor="t">
            <a:spAutoFit/>
          </a:bodyPr>
          <a:lstStyle/>
          <a:p>
            <a:pPr algn="l"/>
            <a:r>
              <a:rPr sz="880" b="1" spc="65">
                <a:solidFill>
                  <a:srgbClr val="71849C"/>
                </a:solidFill>
                <a:latin typeface="Aptos"/>
              </a:rPr>
              <a:t>MEMORY LAYER</a:t>
            </a:r>
          </a:p>
        </p:txBody>
      </p:sp>
      <p:sp>
        <p:nvSpPr>
          <p:cNvPr id="10" name="TextBox 9"/>
          <p:cNvSpPr txBox="1"/>
          <p:nvPr/>
        </p:nvSpPr>
        <p:spPr>
          <a:xfrm>
            <a:off x="3419856" y="2157984"/>
            <a:ext cx="1078992" cy="201168"/>
          </a:xfrm>
          <a:prstGeom prst="rect">
            <a:avLst/>
          </a:prstGeom>
          <a:noFill/>
        </p:spPr>
        <p:txBody>
          <a:bodyPr wrap="square" lIns="0" rIns="0" tIns="0" bIns="0" anchor="t">
            <a:spAutoFit/>
          </a:bodyPr>
          <a:lstStyle/>
          <a:p>
            <a:pPr algn="r"/>
            <a:r>
              <a:rPr sz="880" b="1" spc="65">
                <a:solidFill>
                  <a:srgbClr val="71849C"/>
                </a:solidFill>
                <a:latin typeface="Aptos"/>
              </a:rPr>
              <a:t>CORRECT</a:t>
            </a:r>
          </a:p>
        </p:txBody>
      </p:sp>
      <p:sp>
        <p:nvSpPr>
          <p:cNvPr id="11" name="TextBox 10"/>
          <p:cNvSpPr txBox="1"/>
          <p:nvPr/>
        </p:nvSpPr>
        <p:spPr>
          <a:xfrm>
            <a:off x="4626864" y="2157984"/>
            <a:ext cx="1444752" cy="201168"/>
          </a:xfrm>
          <a:prstGeom prst="rect">
            <a:avLst/>
          </a:prstGeom>
          <a:noFill/>
        </p:spPr>
        <p:txBody>
          <a:bodyPr wrap="square" lIns="0" rIns="0" tIns="0" bIns="0" anchor="t">
            <a:spAutoFit/>
          </a:bodyPr>
          <a:lstStyle/>
          <a:p>
            <a:pPr algn="r"/>
            <a:r>
              <a:rPr sz="880" b="1" spc="65">
                <a:solidFill>
                  <a:srgbClr val="71849C"/>
                </a:solidFill>
                <a:latin typeface="Aptos"/>
              </a:rPr>
              <a:t>COULDN'T ANSWER</a:t>
            </a:r>
          </a:p>
        </p:txBody>
      </p:sp>
      <p:sp>
        <p:nvSpPr>
          <p:cNvPr id="12" name="TextBox 11"/>
          <p:cNvSpPr txBox="1"/>
          <p:nvPr/>
        </p:nvSpPr>
        <p:spPr>
          <a:xfrm>
            <a:off x="6181344" y="2157984"/>
            <a:ext cx="1188720" cy="201168"/>
          </a:xfrm>
          <a:prstGeom prst="rect">
            <a:avLst/>
          </a:prstGeom>
          <a:noFill/>
        </p:spPr>
        <p:txBody>
          <a:bodyPr wrap="square" lIns="0" rIns="0" tIns="0" bIns="0" anchor="t">
            <a:spAutoFit/>
          </a:bodyPr>
          <a:lstStyle/>
          <a:p>
            <a:pPr algn="r"/>
            <a:r>
              <a:rPr sz="880" b="1" spc="65">
                <a:solidFill>
                  <a:srgbClr val="71849C"/>
                </a:solidFill>
                <a:latin typeface="Aptos"/>
              </a:rPr>
              <a:t>TOKENS / QUERY</a:t>
            </a:r>
          </a:p>
        </p:txBody>
      </p:sp>
      <p:sp>
        <p:nvSpPr>
          <p:cNvPr id="13" name="Rectangle 12"/>
          <p:cNvSpPr/>
          <p:nvPr/>
        </p:nvSpPr>
        <p:spPr>
          <a:xfrm>
            <a:off x="914400" y="2487168"/>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61488"/>
            <a:ext cx="2377440" cy="274320"/>
          </a:xfrm>
          <a:prstGeom prst="rect">
            <a:avLst/>
          </a:prstGeom>
          <a:noFill/>
        </p:spPr>
        <p:txBody>
          <a:bodyPr wrap="square" lIns="0" rIns="0" tIns="0" bIns="0" anchor="t">
            <a:spAutoFit/>
          </a:bodyPr>
          <a:lstStyle/>
          <a:p>
            <a:r>
              <a:rPr sz="1550" b="1">
                <a:solidFill>
                  <a:srgbClr val="F5F8FC"/>
                </a:solidFill>
                <a:latin typeface="Aptos"/>
              </a:rPr>
              <a:t>Keep everything</a:t>
            </a:r>
          </a:p>
        </p:txBody>
      </p:sp>
      <p:sp>
        <p:nvSpPr>
          <p:cNvPr id="15" name="TextBox 14"/>
          <p:cNvSpPr txBox="1"/>
          <p:nvPr/>
        </p:nvSpPr>
        <p:spPr>
          <a:xfrm>
            <a:off x="3419856" y="2670048"/>
            <a:ext cx="1078992" cy="384048"/>
          </a:xfrm>
          <a:prstGeom prst="rect">
            <a:avLst/>
          </a:prstGeom>
          <a:noFill/>
        </p:spPr>
        <p:txBody>
          <a:bodyPr wrap="square" lIns="0" rIns="0" tIns="0" bIns="0" anchor="t">
            <a:spAutoFit/>
          </a:bodyPr>
          <a:lstStyle/>
          <a:p>
            <a:pPr algn="r"/>
            <a:r>
              <a:rPr sz="2500" b="1">
                <a:solidFill>
                  <a:srgbClr val="F5F8FC"/>
                </a:solidFill>
                <a:latin typeface="Aptos Display"/>
              </a:rPr>
              <a:t>88</a:t>
            </a:r>
            <a:r>
              <a:rPr sz="1200" b="0">
                <a:solidFill>
                  <a:srgbClr val="71849C"/>
                </a:solidFill>
                <a:latin typeface="Aptos"/>
              </a:rPr>
              <a:t> /100</a:t>
            </a:r>
          </a:p>
        </p:txBody>
      </p:sp>
      <p:sp>
        <p:nvSpPr>
          <p:cNvPr id="16" name="TextBox 15"/>
          <p:cNvSpPr txBox="1"/>
          <p:nvPr/>
        </p:nvSpPr>
        <p:spPr>
          <a:xfrm>
            <a:off x="4626864" y="2743200"/>
            <a:ext cx="1444752" cy="292608"/>
          </a:xfrm>
          <a:prstGeom prst="rect">
            <a:avLst/>
          </a:prstGeom>
          <a:noFill/>
        </p:spPr>
        <p:txBody>
          <a:bodyPr wrap="square" lIns="0" rIns="0" tIns="0" bIns="0" anchor="t">
            <a:spAutoFit/>
          </a:bodyPr>
          <a:lstStyle/>
          <a:p>
            <a:pPr algn="r"/>
            <a:r>
              <a:rPr sz="1700" b="0">
                <a:solidFill>
                  <a:srgbClr val="A2B4C9"/>
                </a:solidFill>
                <a:latin typeface="Aptos Display"/>
              </a:rPr>
              <a:t>0</a:t>
            </a:r>
          </a:p>
        </p:txBody>
      </p:sp>
      <p:sp>
        <p:nvSpPr>
          <p:cNvPr id="17" name="TextBox 16"/>
          <p:cNvSpPr txBox="1"/>
          <p:nvPr/>
        </p:nvSpPr>
        <p:spPr>
          <a:xfrm>
            <a:off x="6181344" y="2743200"/>
            <a:ext cx="1188720" cy="292608"/>
          </a:xfrm>
          <a:prstGeom prst="rect">
            <a:avLst/>
          </a:prstGeom>
          <a:noFill/>
        </p:spPr>
        <p:txBody>
          <a:bodyPr wrap="square" lIns="0" rIns="0" tIns="0" bIns="0" anchor="t">
            <a:spAutoFit/>
          </a:bodyPr>
          <a:lstStyle/>
          <a:p>
            <a:pPr algn="r"/>
            <a:r>
              <a:rPr sz="1700" b="0">
                <a:solidFill>
                  <a:srgbClr val="A2B4C9"/>
                </a:solidFill>
                <a:latin typeface="Aptos Display"/>
              </a:rPr>
              <a:t>1,086</a:t>
            </a:r>
          </a:p>
        </p:txBody>
      </p:sp>
      <p:sp>
        <p:nvSpPr>
          <p:cNvPr id="18" name="Rectangle 17"/>
          <p:cNvSpPr/>
          <p:nvPr/>
        </p:nvSpPr>
        <p:spPr>
          <a:xfrm>
            <a:off x="914400" y="3255263"/>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19856"/>
            <a:ext cx="2377440" cy="274320"/>
          </a:xfrm>
          <a:prstGeom prst="rect">
            <a:avLst/>
          </a:prstGeom>
          <a:noFill/>
        </p:spPr>
        <p:txBody>
          <a:bodyPr wrap="square" lIns="0" rIns="0" tIns="0" bIns="0" anchor="t">
            <a:spAutoFit/>
          </a:bodyPr>
          <a:lstStyle/>
          <a:p>
            <a:r>
              <a:rPr sz="1550" b="1">
                <a:solidFill>
                  <a:srgbClr val="51E1C2"/>
                </a:solidFill>
                <a:latin typeface="Aptos"/>
              </a:rPr>
              <a:t>Latest-per-key reducer</a:t>
            </a:r>
          </a:p>
        </p:txBody>
      </p:sp>
      <p:sp>
        <p:nvSpPr>
          <p:cNvPr id="20" name="TextBox 19"/>
          <p:cNvSpPr txBox="1"/>
          <p:nvPr/>
        </p:nvSpPr>
        <p:spPr>
          <a:xfrm>
            <a:off x="3419856" y="3328415"/>
            <a:ext cx="1078992" cy="384048"/>
          </a:xfrm>
          <a:prstGeom prst="rect">
            <a:avLst/>
          </a:prstGeom>
          <a:noFill/>
        </p:spPr>
        <p:txBody>
          <a:bodyPr wrap="square" lIns="0" rIns="0" tIns="0" bIns="0" anchor="t">
            <a:spAutoFit/>
          </a:bodyPr>
          <a:lstStyle/>
          <a:p>
            <a:pPr algn="r"/>
            <a:r>
              <a:rPr sz="2500" b="1">
                <a:solidFill>
                  <a:srgbClr val="51E1C2"/>
                </a:solidFill>
                <a:latin typeface="Aptos Display"/>
              </a:rPr>
              <a:t>86</a:t>
            </a:r>
            <a:r>
              <a:rPr sz="1200" b="0">
                <a:solidFill>
                  <a:srgbClr val="71849C"/>
                </a:solidFill>
                <a:latin typeface="Aptos"/>
              </a:rPr>
              <a:t> /100</a:t>
            </a:r>
          </a:p>
        </p:txBody>
      </p:sp>
      <p:sp>
        <p:nvSpPr>
          <p:cNvPr id="21" name="TextBox 20"/>
          <p:cNvSpPr txBox="1"/>
          <p:nvPr/>
        </p:nvSpPr>
        <p:spPr>
          <a:xfrm>
            <a:off x="4626864" y="3401568"/>
            <a:ext cx="1444752" cy="292608"/>
          </a:xfrm>
          <a:prstGeom prst="rect">
            <a:avLst/>
          </a:prstGeom>
          <a:noFill/>
        </p:spPr>
        <p:txBody>
          <a:bodyPr wrap="square" lIns="0" rIns="0" tIns="0" bIns="0" anchor="t">
            <a:spAutoFit/>
          </a:bodyPr>
          <a:lstStyle/>
          <a:p>
            <a:pPr algn="r"/>
            <a:r>
              <a:rPr sz="1700" b="0">
                <a:solidFill>
                  <a:srgbClr val="A2B4C9"/>
                </a:solidFill>
                <a:latin typeface="Aptos Display"/>
              </a:rPr>
              <a:t>5</a:t>
            </a:r>
          </a:p>
        </p:txBody>
      </p:sp>
      <p:sp>
        <p:nvSpPr>
          <p:cNvPr id="22" name="TextBox 21"/>
          <p:cNvSpPr txBox="1"/>
          <p:nvPr/>
        </p:nvSpPr>
        <p:spPr>
          <a:xfrm>
            <a:off x="6181344" y="3401568"/>
            <a:ext cx="1188720" cy="292608"/>
          </a:xfrm>
          <a:prstGeom prst="rect">
            <a:avLst/>
          </a:prstGeom>
          <a:noFill/>
        </p:spPr>
        <p:txBody>
          <a:bodyPr wrap="square" lIns="0" rIns="0" tIns="0" bIns="0" anchor="t">
            <a:spAutoFit/>
          </a:bodyPr>
          <a:lstStyle/>
          <a:p>
            <a:pPr algn="r"/>
            <a:r>
              <a:rPr sz="1700" b="0">
                <a:solidFill>
                  <a:srgbClr val="A2B4C9"/>
                </a:solidFill>
                <a:latin typeface="Aptos Display"/>
              </a:rPr>
              <a:t>480</a:t>
            </a:r>
          </a:p>
        </p:txBody>
      </p:sp>
      <p:sp>
        <p:nvSpPr>
          <p:cNvPr id="23" name="Rectangle 22"/>
          <p:cNvSpPr/>
          <p:nvPr/>
        </p:nvSpPr>
        <p:spPr>
          <a:xfrm>
            <a:off x="914400" y="3913631"/>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078223"/>
            <a:ext cx="2377440" cy="274320"/>
          </a:xfrm>
          <a:prstGeom prst="rect">
            <a:avLst/>
          </a:prstGeom>
          <a:noFill/>
        </p:spPr>
        <p:txBody>
          <a:bodyPr wrap="square" lIns="0" rIns="0" tIns="0" bIns="0" anchor="t">
            <a:spAutoFit/>
          </a:bodyPr>
          <a:lstStyle/>
          <a:p>
            <a:r>
              <a:rPr sz="1550" b="1">
                <a:solidFill>
                  <a:srgbClr val="FFB864"/>
                </a:solidFill>
                <a:latin typeface="Aptos"/>
              </a:rPr>
              <a:t>Trim to token budget</a:t>
            </a:r>
          </a:p>
        </p:txBody>
      </p:sp>
      <p:sp>
        <p:nvSpPr>
          <p:cNvPr id="25" name="TextBox 24"/>
          <p:cNvSpPr txBox="1"/>
          <p:nvPr/>
        </p:nvSpPr>
        <p:spPr>
          <a:xfrm>
            <a:off x="3419856" y="3986783"/>
            <a:ext cx="1078992" cy="384048"/>
          </a:xfrm>
          <a:prstGeom prst="rect">
            <a:avLst/>
          </a:prstGeom>
          <a:noFill/>
        </p:spPr>
        <p:txBody>
          <a:bodyPr wrap="square" lIns="0" rIns="0" tIns="0" bIns="0" anchor="t">
            <a:spAutoFit/>
          </a:bodyPr>
          <a:lstStyle/>
          <a:p>
            <a:pPr algn="r"/>
            <a:r>
              <a:rPr sz="2500" b="1">
                <a:solidFill>
                  <a:srgbClr val="FFB864"/>
                </a:solidFill>
                <a:latin typeface="Aptos Display"/>
              </a:rPr>
              <a:t>24</a:t>
            </a:r>
            <a:r>
              <a:rPr sz="1200" b="0">
                <a:solidFill>
                  <a:srgbClr val="71849C"/>
                </a:solidFill>
                <a:latin typeface="Aptos"/>
              </a:rPr>
              <a:t> /100</a:t>
            </a:r>
          </a:p>
        </p:txBody>
      </p:sp>
      <p:sp>
        <p:nvSpPr>
          <p:cNvPr id="26" name="TextBox 25"/>
          <p:cNvSpPr txBox="1"/>
          <p:nvPr/>
        </p:nvSpPr>
        <p:spPr>
          <a:xfrm>
            <a:off x="4626864" y="4059935"/>
            <a:ext cx="1444752" cy="292608"/>
          </a:xfrm>
          <a:prstGeom prst="rect">
            <a:avLst/>
          </a:prstGeom>
          <a:noFill/>
        </p:spPr>
        <p:txBody>
          <a:bodyPr wrap="square" lIns="0" rIns="0" tIns="0" bIns="0" anchor="t">
            <a:spAutoFit/>
          </a:bodyPr>
          <a:lstStyle/>
          <a:p>
            <a:pPr algn="r"/>
            <a:r>
              <a:rPr sz="1700" b="0">
                <a:solidFill>
                  <a:srgbClr val="A2B4C9"/>
                </a:solidFill>
                <a:latin typeface="Aptos Display"/>
              </a:rPr>
              <a:t>49</a:t>
            </a:r>
          </a:p>
        </p:txBody>
      </p:sp>
      <p:sp>
        <p:nvSpPr>
          <p:cNvPr id="27" name="TextBox 26"/>
          <p:cNvSpPr txBox="1"/>
          <p:nvPr/>
        </p:nvSpPr>
        <p:spPr>
          <a:xfrm>
            <a:off x="6181344" y="4059935"/>
            <a:ext cx="1188720" cy="292608"/>
          </a:xfrm>
          <a:prstGeom prst="rect">
            <a:avLst/>
          </a:prstGeom>
          <a:noFill/>
        </p:spPr>
        <p:txBody>
          <a:bodyPr wrap="square" lIns="0" rIns="0" tIns="0" bIns="0" anchor="t">
            <a:spAutoFit/>
          </a:bodyPr>
          <a:lstStyle/>
          <a:p>
            <a:pPr algn="r"/>
            <a:r>
              <a:rPr sz="1700" b="0">
                <a:solidFill>
                  <a:srgbClr val="A2B4C9"/>
                </a:solidFill>
                <a:latin typeface="Aptos Display"/>
              </a:rPr>
              <a:t>250</a:t>
            </a:r>
          </a:p>
        </p:txBody>
      </p:sp>
      <p:sp>
        <p:nvSpPr>
          <p:cNvPr id="28" name="Rectangle 27"/>
          <p:cNvSpPr/>
          <p:nvPr/>
        </p:nvSpPr>
        <p:spPr>
          <a:xfrm>
            <a:off x="914400" y="4571999"/>
            <a:ext cx="6455664"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700016"/>
            <a:ext cx="6455664" cy="731520"/>
          </a:xfrm>
          <a:prstGeom prst="rect">
            <a:avLst/>
          </a:prstGeom>
          <a:noFill/>
        </p:spPr>
        <p:txBody>
          <a:bodyPr wrap="square" lIns="0" rIns="0" tIns="0" bIns="0" anchor="t">
            <a:spAutoFit/>
          </a:bodyPr>
          <a:lstStyle/>
          <a:p>
            <a:pPr>
              <a:lnSpc>
                <a:spcPct val="130000"/>
              </a:lnSpc>
            </a:pPr>
            <a:r>
              <a:rPr sz="1400" b="0">
                <a:solidFill>
                  <a:srgbClr val="A2B4C9"/>
                </a:solidFill>
                <a:latin typeface="Aptos"/>
              </a:rPr>
              <a:t>The engineering decision:  </a:t>
            </a:r>
            <a:r>
              <a:rPr sz="1400" b="1">
                <a:solidFill>
                  <a:srgbClr val="51E1C2"/>
                </a:solidFill>
                <a:latin typeface="Aptos"/>
              </a:rPr>
              <a:t>44% of the tokens for 2 points of accuracy</a:t>
            </a:r>
            <a:r>
              <a:rPr sz="1400" b="0">
                <a:solidFill>
                  <a:srgbClr val="A2B4C9"/>
                </a:solidFill>
                <a:latin typeface="Aptos"/>
              </a:rPr>
              <a:t>  —  and the lowest cost per correct answer, $0.0044 against $0.0074. Trimming is cheapest per query and dearest per correct answer: $0.0207, 4.7× the reducer.</a:t>
            </a:r>
          </a:p>
        </p:txBody>
      </p:sp>
      <p:sp>
        <p:nvSpPr>
          <p:cNvPr id="30" name="Rounded Rectangle 29"/>
          <p:cNvSpPr/>
          <p:nvPr/>
        </p:nvSpPr>
        <p:spPr>
          <a:xfrm>
            <a:off x="7662672" y="1901952"/>
            <a:ext cx="3913632" cy="3639312"/>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7900416" y="2103120"/>
            <a:ext cx="3017520" cy="347472"/>
          </a:xfrm>
          <a:prstGeom prst="roundRect">
            <a:avLst>
              <a:gd name="adj" fmla="val 42105"/>
            </a:avLst>
          </a:prstGeom>
          <a:solidFill>
            <a:srgbClr val="19273A"/>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19288" y="2176272"/>
            <a:ext cx="2834640" cy="182880"/>
          </a:xfrm>
          <a:prstGeom prst="rect">
            <a:avLst/>
          </a:prstGeom>
          <a:noFill/>
        </p:spPr>
        <p:txBody>
          <a:bodyPr wrap="square" lIns="0" rIns="0" tIns="0" bIns="0" anchor="t">
            <a:spAutoFit/>
          </a:bodyPr>
          <a:lstStyle/>
          <a:p>
            <a:r>
              <a:rPr sz="900" b="1" spc="65">
                <a:solidFill>
                  <a:srgbClr val="FFB864"/>
                </a:solidFill>
                <a:latin typeface="Aptos"/>
              </a:rPr>
              <a:t>THE RESULT WE DIDN’T WANT</a:t>
            </a:r>
          </a:p>
        </p:txBody>
      </p:sp>
      <p:sp>
        <p:nvSpPr>
          <p:cNvPr id="33" name="TextBox 32"/>
          <p:cNvSpPr txBox="1"/>
          <p:nvPr/>
        </p:nvSpPr>
        <p:spPr>
          <a:xfrm>
            <a:off x="7900416" y="2670048"/>
            <a:ext cx="3438144" cy="1188720"/>
          </a:xfrm>
          <a:prstGeom prst="rect">
            <a:avLst/>
          </a:prstGeom>
          <a:noFill/>
        </p:spPr>
        <p:txBody>
          <a:bodyPr wrap="square" lIns="0" rIns="0" tIns="0" bIns="0" anchor="t">
            <a:spAutoFit/>
          </a:bodyPr>
          <a:lstStyle/>
          <a:p>
            <a:pPr>
              <a:lnSpc>
                <a:spcPct val="126000"/>
              </a:lnSpc>
            </a:pPr>
            <a:r>
              <a:rPr sz="1300" b="0">
                <a:solidFill>
                  <a:srgbClr val="A2B4C9"/>
                </a:solidFill>
                <a:latin typeface="Aptos"/>
              </a:rPr>
              <a:t>We expected stale facts to poison answers. So we deleted the one line telling the model to prefer recent facts, and re-ran all 300.</a:t>
            </a:r>
          </a:p>
        </p:txBody>
      </p:sp>
      <p:sp>
        <p:nvSpPr>
          <p:cNvPr id="34" name="Rectangle 33"/>
          <p:cNvSpPr/>
          <p:nvPr/>
        </p:nvSpPr>
        <p:spPr>
          <a:xfrm>
            <a:off x="7900416" y="3584448"/>
            <a:ext cx="3419856" cy="0"/>
          </a:xfrm>
          <a:prstGeom prst="rect">
            <a:avLst/>
          </a:prstGeom>
          <a:no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0416" y="3749039"/>
            <a:ext cx="3438144" cy="420624"/>
          </a:xfrm>
          <a:prstGeom prst="rect">
            <a:avLst/>
          </a:prstGeom>
          <a:noFill/>
        </p:spPr>
        <p:txBody>
          <a:bodyPr wrap="square" lIns="0" rIns="0" tIns="0" bIns="0" anchor="t">
            <a:spAutoFit/>
          </a:bodyPr>
          <a:lstStyle/>
          <a:p>
            <a:r>
              <a:rPr sz="3000" b="1">
                <a:solidFill>
                  <a:srgbClr val="FFB864"/>
                </a:solidFill>
                <a:latin typeface="Aptos Display"/>
              </a:rPr>
              <a:t>12</a:t>
            </a:r>
            <a:r>
              <a:rPr sz="1300" b="0">
                <a:solidFill>
                  <a:srgbClr val="A2B4C9"/>
                </a:solidFill>
                <a:latin typeface="Aptos"/>
              </a:rPr>
              <a:t>  answers broke</a:t>
            </a:r>
          </a:p>
        </p:txBody>
      </p:sp>
      <p:sp>
        <p:nvSpPr>
          <p:cNvPr id="36" name="TextBox 35"/>
          <p:cNvSpPr txBox="1"/>
          <p:nvPr/>
        </p:nvSpPr>
        <p:spPr>
          <a:xfrm>
            <a:off x="7900416" y="4279392"/>
            <a:ext cx="3438144" cy="1005840"/>
          </a:xfrm>
          <a:prstGeom prst="rect">
            <a:avLst/>
          </a:prstGeom>
          <a:noFill/>
        </p:spPr>
        <p:txBody>
          <a:bodyPr wrap="square" lIns="0" rIns="0" tIns="0" bIns="0" anchor="t">
            <a:spAutoFit/>
          </a:bodyPr>
          <a:lstStyle/>
          <a:p>
            <a:pPr>
              <a:lnSpc>
                <a:spcPct val="126000"/>
              </a:lnSpc>
            </a:pPr>
            <a:r>
              <a:rPr sz="1250" b="1">
                <a:solidFill>
                  <a:srgbClr val="FFB864"/>
                </a:solidFill>
                <a:latin typeface="Aptos"/>
              </a:rPr>
              <a:t>None of them</a:t>
            </a:r>
            <a:r>
              <a:rPr sz="1250" b="0">
                <a:solidFill>
                  <a:srgbClr val="F5F8FC"/>
                </a:solidFill>
                <a:latin typeface="Aptos"/>
              </a:rPr>
              <a:t> had a stale fact in context — though 58 other answers did. Every loss landed on the layer that </a:t>
            </a:r>
            <a:r>
              <a:rPr sz="1250" b="1">
                <a:solidFill>
                  <a:srgbClr val="F5F8FC"/>
                </a:solidFill>
                <a:latin typeface="Aptos"/>
              </a:rPr>
              <a:t>drops</a:t>
            </a:r>
            <a:r>
              <a:rPr sz="1250" b="0">
                <a:solidFill>
                  <a:srgbClr val="F5F8FC"/>
                </a:solidFill>
                <a:latin typeface="Aptos"/>
              </a:rPr>
              <a:t> facts. It fails by forgetting.</a:t>
            </a:r>
          </a:p>
        </p:txBody>
      </p:sp>
      <p:sp>
        <p:nvSpPr>
          <p:cNvPr id="37" name="TextBox 36"/>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Logs: results/run_log.opus.jsonl and .recency-off.jsonl  ·  rerun with scripts/analyse_ab.py  ·  abstentions count as incorrect  ·  rates confirmed 2026-10-25 in config/pricing.yaml.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REGWATCH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txBody>
          <a:bodyPr/>
          <a:p/>
        </p:txBody>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08</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Who uses RegWatch — and who benefits?</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Main track: Governance &amp; Compliance  •  Supporting: Explainability &amp; Transparency</a:t>
            </a:r>
            <a:endParaRPr lang="en-US" sz="1500" dirty="0"/>
          </a:p>
        </p:txBody>
      </p:sp>
      <p:sp>
        <p:nvSpPr>
          <p:cNvPr id="8" name="Shape 6"/>
          <p:cNvSpPr/>
          <p:nvPr/>
        </p:nvSpPr>
        <p:spPr>
          <a:xfrm>
            <a:off x="585216" y="2103120"/>
            <a:ext cx="3621024" cy="2679192"/>
          </a:xfrm>
          <a:prstGeom prst="roundRect">
            <a:avLst>
              <a:gd name="adj" fmla="val 5461"/>
            </a:avLst>
          </a:prstGeom>
          <a:solidFill>
            <a:srgbClr val="121E30"/>
          </a:solidFill>
          <a:ln w="10160">
            <a:solidFill>
              <a:srgbClr val="2C4058"/>
            </a:solidFill>
            <a:prstDash val="solid"/>
          </a:ln>
        </p:spPr>
        <p:txBody>
          <a:bodyPr/>
          <a:p/>
        </p:txBody>
      </p:sp>
      <p:sp>
        <p:nvSpPr>
          <p:cNvPr id="9" name="Shape 7"/>
          <p:cNvSpPr/>
          <p:nvPr/>
        </p:nvSpPr>
        <p:spPr>
          <a:xfrm>
            <a:off x="777240" y="2350008"/>
            <a:ext cx="3182112" cy="347472"/>
          </a:xfrm>
          <a:prstGeom prst="roundRect">
            <a:avLst>
              <a:gd name="adj" fmla="val 42105"/>
            </a:avLst>
          </a:prstGeom>
          <a:solidFill>
            <a:srgbClr val="19273A"/>
          </a:solidFill>
          <a:ln w="10160">
            <a:solidFill>
              <a:srgbClr val="2C4058"/>
            </a:solidFill>
            <a:prstDash val="solid"/>
          </a:ln>
        </p:spPr>
        <p:txBody>
          <a:bodyPr/>
          <a:p/>
        </p:txBody>
      </p:sp>
      <p:sp>
        <p:nvSpPr>
          <p:cNvPr id="10" name="Text 8"/>
          <p:cNvSpPr/>
          <p:nvPr/>
        </p:nvSpPr>
        <p:spPr>
          <a:xfrm>
            <a:off x="896112" y="2423160"/>
            <a:ext cx="2953512"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AI ENGINEER</a:t>
            </a:r>
            <a:endParaRPr lang="en-US" sz="1020" dirty="0"/>
          </a:p>
        </p:txBody>
      </p:sp>
      <p:sp>
        <p:nvSpPr>
          <p:cNvPr id="11" name="Text 9"/>
          <p:cNvSpPr/>
          <p:nvPr/>
        </p:nvSpPr>
        <p:spPr>
          <a:xfrm>
            <a:off x="804672" y="2999232"/>
            <a:ext cx="3127248" cy="1335024"/>
          </a:xfrm>
          <a:prstGeom prst="rect">
            <a:avLst/>
          </a:prstGeom>
          <a:noFill/>
          <a:ln/>
        </p:spPr>
        <p:txBody>
          <a:bodyPr wrap="square" lIns="0" tIns="0" rIns="0" bIns="0" rtlCol="0" anchor="t">
            <a:normAutofit/>
          </a:bodyPr>
          <a:lstStyle/>
          <a:p>
            <a:pPr indent="0" marL="0">
              <a:buNone/>
            </a:pPr>
            <a:r>
              <a:rPr lang="en-US" sz="1800" dirty="0">
                <a:solidFill>
                  <a:srgbClr val="F5F8FC"/>
                </a:solidFill>
                <a:latin typeface="Aptos" pitchFamily="34" charset="0"/>
                <a:ea typeface="Aptos" pitchFamily="34" charset="-122"/>
                <a:cs typeface="Aptos" pitchFamily="34" charset="-120"/>
              </a:rPr>
              <a:t>Test memory updates in assistants, retrieval apps and agents</a:t>
            </a:r>
            <a:endParaRPr lang="en-US" sz="1800" dirty="0"/>
          </a:p>
        </p:txBody>
      </p:sp>
      <p:sp>
        <p:nvSpPr>
          <p:cNvPr id="12" name="Shape 10"/>
          <p:cNvSpPr/>
          <p:nvPr/>
        </p:nvSpPr>
        <p:spPr>
          <a:xfrm>
            <a:off x="4370832" y="2103120"/>
            <a:ext cx="3621024" cy="2679192"/>
          </a:xfrm>
          <a:prstGeom prst="roundRect">
            <a:avLst>
              <a:gd name="adj" fmla="val 5461"/>
            </a:avLst>
          </a:prstGeom>
          <a:solidFill>
            <a:srgbClr val="121E30"/>
          </a:solidFill>
          <a:ln w="10160">
            <a:solidFill>
              <a:srgbClr val="2C4058"/>
            </a:solidFill>
            <a:prstDash val="solid"/>
          </a:ln>
        </p:spPr>
        <p:txBody>
          <a:bodyPr/>
          <a:p/>
        </p:txBody>
      </p:sp>
      <p:sp>
        <p:nvSpPr>
          <p:cNvPr id="13" name="Shape 11"/>
          <p:cNvSpPr/>
          <p:nvPr/>
        </p:nvSpPr>
        <p:spPr>
          <a:xfrm>
            <a:off x="4562856" y="2350008"/>
            <a:ext cx="3182112" cy="347472"/>
          </a:xfrm>
          <a:prstGeom prst="roundRect">
            <a:avLst>
              <a:gd name="adj" fmla="val 42105"/>
            </a:avLst>
          </a:prstGeom>
          <a:solidFill>
            <a:srgbClr val="19273A"/>
          </a:solidFill>
          <a:ln w="10160">
            <a:solidFill>
              <a:srgbClr val="2C4058"/>
            </a:solidFill>
            <a:prstDash val="solid"/>
          </a:ln>
        </p:spPr>
        <p:txBody>
          <a:bodyPr/>
          <a:p/>
        </p:txBody>
      </p:sp>
      <p:sp>
        <p:nvSpPr>
          <p:cNvPr id="14" name="Text 12"/>
          <p:cNvSpPr/>
          <p:nvPr/>
        </p:nvSpPr>
        <p:spPr>
          <a:xfrm>
            <a:off x="4681728" y="2423160"/>
            <a:ext cx="2953512" cy="182880"/>
          </a:xfrm>
          <a:prstGeom prst="rect">
            <a:avLst/>
          </a:prstGeom>
          <a:noFill/>
          <a:ln/>
        </p:spPr>
        <p:txBody>
          <a:bodyPr wrap="square" lIns="0" tIns="0" rIns="0" bIns="0" rtlCol="0" anchor="ctr">
            <a:normAutofit/>
          </a:bodyPr>
          <a:lstStyle/>
          <a:p>
            <a:pPr indent="0" marL="0">
              <a:buNone/>
            </a:pPr>
            <a:r>
              <a:rPr lang="en-US" sz="1020" b="1" spc="65" kern="0" dirty="0">
                <a:solidFill>
                  <a:srgbClr val="76ACFF"/>
                </a:solidFill>
                <a:latin typeface="Aptos" pitchFamily="34" charset="0"/>
                <a:ea typeface="Aptos" pitchFamily="34" charset="-122"/>
                <a:cs typeface="Aptos" pitchFamily="34" charset="-120"/>
              </a:rPr>
              <a:t>ASSURANCE TEAM</a:t>
            </a:r>
            <a:endParaRPr lang="en-US" sz="1020" dirty="0"/>
          </a:p>
        </p:txBody>
      </p:sp>
      <p:sp>
        <p:nvSpPr>
          <p:cNvPr id="15" name="Text 13"/>
          <p:cNvSpPr/>
          <p:nvPr/>
        </p:nvSpPr>
        <p:spPr>
          <a:xfrm>
            <a:off x="4590288" y="2999232"/>
            <a:ext cx="3127248" cy="1335024"/>
          </a:xfrm>
          <a:prstGeom prst="rect">
            <a:avLst/>
          </a:prstGeom>
          <a:noFill/>
          <a:ln/>
        </p:spPr>
        <p:txBody>
          <a:bodyPr wrap="square" lIns="0" tIns="0" rIns="0" bIns="0" rtlCol="0" anchor="t">
            <a:normAutofit/>
          </a:bodyPr>
          <a:lstStyle/>
          <a:p>
            <a:pPr indent="0" marL="0">
              <a:buNone/>
            </a:pPr>
            <a:r>
              <a:rPr lang="en-US" sz="1800" dirty="0">
                <a:solidFill>
                  <a:srgbClr val="F5F8FC"/>
                </a:solidFill>
                <a:latin typeface="Aptos" pitchFamily="34" charset="0"/>
                <a:ea typeface="Aptos" pitchFamily="34" charset="-122"/>
                <a:cs typeface="Aptos" pitchFamily="34" charset="-120"/>
              </a:rPr>
              <a:t>Keep failure evidence and review high-risk changes before rollout</a:t>
            </a:r>
            <a:endParaRPr lang="en-US" sz="1800" dirty="0"/>
          </a:p>
        </p:txBody>
      </p:sp>
      <p:sp>
        <p:nvSpPr>
          <p:cNvPr id="16" name="Shape 14"/>
          <p:cNvSpPr/>
          <p:nvPr/>
        </p:nvSpPr>
        <p:spPr>
          <a:xfrm>
            <a:off x="8156448" y="2103120"/>
            <a:ext cx="3621024" cy="2679192"/>
          </a:xfrm>
          <a:prstGeom prst="roundRect">
            <a:avLst>
              <a:gd name="adj" fmla="val 5461"/>
            </a:avLst>
          </a:prstGeom>
          <a:solidFill>
            <a:srgbClr val="121E30"/>
          </a:solidFill>
          <a:ln w="10160">
            <a:solidFill>
              <a:srgbClr val="2C4058"/>
            </a:solidFill>
            <a:prstDash val="solid"/>
          </a:ln>
        </p:spPr>
        <p:txBody>
          <a:bodyPr/>
          <a:p/>
        </p:txBody>
      </p:sp>
      <p:sp>
        <p:nvSpPr>
          <p:cNvPr id="17" name="Shape 15"/>
          <p:cNvSpPr/>
          <p:nvPr/>
        </p:nvSpPr>
        <p:spPr>
          <a:xfrm>
            <a:off x="8348472" y="2350008"/>
            <a:ext cx="3182112" cy="347472"/>
          </a:xfrm>
          <a:prstGeom prst="roundRect">
            <a:avLst>
              <a:gd name="adj" fmla="val 42105"/>
            </a:avLst>
          </a:prstGeom>
          <a:solidFill>
            <a:srgbClr val="19273A"/>
          </a:solidFill>
          <a:ln w="10160">
            <a:solidFill>
              <a:srgbClr val="2C4058"/>
            </a:solidFill>
            <a:prstDash val="solid"/>
          </a:ln>
        </p:spPr>
        <p:txBody>
          <a:bodyPr/>
          <a:p/>
        </p:txBody>
      </p:sp>
      <p:sp>
        <p:nvSpPr>
          <p:cNvPr id="18" name="Text 16"/>
          <p:cNvSpPr/>
          <p:nvPr/>
        </p:nvSpPr>
        <p:spPr>
          <a:xfrm>
            <a:off x="8467344" y="2423160"/>
            <a:ext cx="2953512" cy="182880"/>
          </a:xfrm>
          <a:prstGeom prst="rect">
            <a:avLst/>
          </a:prstGeom>
          <a:noFill/>
          <a:ln/>
        </p:spPr>
        <p:txBody>
          <a:bodyPr wrap="square" lIns="0" tIns="0" rIns="0" bIns="0" rtlCol="0" anchor="ctr">
            <a:normAutofit/>
          </a:bodyPr>
          <a:lstStyle/>
          <a:p>
            <a:pPr indent="0" marL="0">
              <a:buNone/>
            </a:pPr>
            <a:r>
              <a:rPr lang="en-US" sz="1020" b="1" spc="65" kern="0" dirty="0">
                <a:solidFill>
                  <a:srgbClr val="FFB864"/>
                </a:solidFill>
                <a:latin typeface="Aptos" pitchFamily="34" charset="0"/>
                <a:ea typeface="Aptos" pitchFamily="34" charset="-122"/>
                <a:cs typeface="Aptos" pitchFamily="34" charset="-120"/>
              </a:rPr>
              <a:t>INDIVIDUAL  ·  NOT YET</a:t>
            </a:r>
            <a:endParaRPr lang="en-US" sz="1020" dirty="0"/>
          </a:p>
        </p:txBody>
      </p:sp>
      <p:sp>
        <p:nvSpPr>
          <p:cNvPr id="19" name="Text 17"/>
          <p:cNvSpPr/>
          <p:nvPr/>
        </p:nvSpPr>
        <p:spPr>
          <a:xfrm>
            <a:off x="8375904" y="2999232"/>
            <a:ext cx="3127248" cy="1335024"/>
          </a:xfrm>
          <a:prstGeom prst="rect">
            <a:avLst/>
          </a:prstGeom>
          <a:noFill/>
          <a:ln/>
        </p:spPr>
        <p:txBody>
          <a:bodyPr wrap="square" lIns="0" tIns="0" rIns="0" bIns="0" rtlCol="0" anchor="t">
            <a:normAutofit/>
          </a:bodyPr>
          <a:lstStyle/>
          <a:p>
            <a:pPr indent="0" marL="0">
              <a:buNone/>
            </a:pPr>
            <a:r>
              <a:rPr lang="en-US" sz="1800" dirty="0">
                <a:solidFill>
                  <a:srgbClr val="F5F8FC"/>
                </a:solidFill>
                <a:latin typeface="Aptos" pitchFamily="34" charset="0"/>
                <a:ea typeface="Aptos" pitchFamily="34" charset="-122"/>
                <a:cs typeface="Aptos" pitchFamily="34" charset="-120"/>
              </a:rPr>
              <a:t>Eventually test an authorised personal agent or workflow</a:t>
            </a:r>
            <a:endParaRPr lang="en-US" sz="1800" dirty="0"/>
          </a:p>
        </p:txBody>
      </p:sp>
      <p:sp>
        <p:nvSpPr>
          <p:cNvPr id="20" name="Shape 18"/>
          <p:cNvSpPr/>
          <p:nvPr/>
        </p:nvSpPr>
        <p:spPr>
          <a:xfrm>
            <a:off x="585216" y="5102352"/>
            <a:ext cx="10981944" cy="777240"/>
          </a:xfrm>
          <a:prstGeom prst="roundRect">
            <a:avLst>
              <a:gd name="adj" fmla="val 18824"/>
            </a:avLst>
          </a:prstGeom>
          <a:solidFill>
            <a:srgbClr val="0E1A2B"/>
          </a:solidFill>
          <a:ln w="10160">
            <a:solidFill>
              <a:srgbClr val="2C4058"/>
            </a:solidFill>
            <a:prstDash val="solid"/>
          </a:ln>
        </p:spPr>
        <p:txBody>
          <a:bodyPr/>
          <a:p/>
        </p:txBody>
      </p:sp>
      <p:sp>
        <p:nvSpPr>
          <p:cNvPr id="21" name="Text 19"/>
          <p:cNvSpPr/>
          <p:nvPr/>
        </p:nvSpPr>
        <p:spPr>
          <a:xfrm>
            <a:off x="841248" y="5303520"/>
            <a:ext cx="10515600" cy="365760"/>
          </a:xfrm>
          <a:prstGeom prst="rect">
            <a:avLst/>
          </a:prstGeom>
          <a:noFill/>
          <a:ln/>
        </p:spPr>
        <p:txBody>
          <a:bodyPr wrap="square" lIns="0" tIns="0" rIns="0" bIns="0" rtlCol="0" anchor="ctr">
            <a:normAutofit/>
          </a:bodyPr>
          <a:lstStyle/>
          <a:p>
            <a:pPr algn="ctr" indent="0" marL="0">
              <a:buNone/>
            </a:pPr>
            <a:r>
              <a:rPr lang="en-US" sz="2100" b="1" dirty="0">
                <a:solidFill>
                  <a:srgbClr val="51E1C2"/>
                </a:solidFill>
                <a:latin typeface="Aptos" pitchFamily="34" charset="0"/>
                <a:ea typeface="Aptos" pitchFamily="34" charset="-122"/>
                <a:cs typeface="Aptos" pitchFamily="34" charset="-120"/>
              </a:rPr>
              <a:t>Test  →  Record evidence  →  Flag risk  →  Human review</a:t>
            </a:r>
            <a:endParaRPr lang="en-US" sz="2100" dirty="0"/>
          </a:p>
        </p:txBody>
      </p:sp>
      <p:sp>
        <p:nvSpPr>
          <p:cNvPr id="22" name="Text 20"/>
          <p:cNvSpPr/>
          <p:nvPr/>
        </p:nvSpPr>
        <p:spPr>
          <a:xfrm>
            <a:off x="548640" y="6208776"/>
            <a:ext cx="10972800" cy="228600"/>
          </a:xfrm>
          <a:prstGeom prst="rect">
            <a:avLst/>
          </a:prstGeom>
          <a:noFill/>
          <a:ln/>
        </p:spPr>
        <p:txBody>
          <a:bodyPr wrap="square" lIns="0" tIns="0" rIns="0" bIns="0" rtlCol="0" anchor="ctr">
            <a:normAutofit/>
          </a:bodyPr>
          <a:lstStyle/>
          <a:p>
            <a:pPr indent="0" marL="0">
              <a:buNone/>
            </a:pPr>
            <a:r>
              <a:rPr lang="en-US" sz="940" dirty="0">
                <a:solidFill>
                  <a:srgbClr val="71849C"/>
                </a:solidFill>
                <a:latin typeface="Aptos" pitchFamily="34" charset="0"/>
                <a:ea typeface="Aptos" pitchFamily="34" charset="-122"/>
                <a:cs typeface="Aptos" pitchFamily="34" charset="-120"/>
              </a:rPr>
              <a:t>Personal integration is future work. The prototype is an assurance tool, not a safety or compliance certification.</a:t>
            </a:r>
            <a:endParaRPr lang="en-US" sz="9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REGWATCH AI  /  RESPONSIBLE AI HACKATHON</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09</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 4"/>
          <p:cNvSpPr/>
          <p:nvPr/>
        </p:nvSpPr>
        <p:spPr>
          <a:xfrm>
            <a:off x="530352" y="749808"/>
            <a:ext cx="11064240" cy="658368"/>
          </a:xfrm>
          <a:prstGeom prst="rect">
            <a:avLst/>
          </a:prstGeom>
          <a:noFill/>
          <a:ln/>
        </p:spPr>
        <p:txBody>
          <a:bodyPr wrap="square" lIns="0" tIns="0" rIns="0" bIns="0" rtlCol="0" anchor="ctr">
            <a:normAutofit/>
          </a:bodyPr>
          <a:lstStyle/>
          <a:p>
            <a:pPr indent="0" marL="0">
              <a:buNone/>
            </a:pPr>
            <a:r>
              <a:rPr lang="en-US" sz="2900" b="1" dirty="0">
                <a:solidFill>
                  <a:srgbClr val="F5F8FC"/>
                </a:solidFill>
                <a:latin typeface="Aptos Display" pitchFamily="34" charset="0"/>
                <a:ea typeface="Aptos Display" pitchFamily="34" charset="-122"/>
                <a:cs typeface="Aptos Display" pitchFamily="34" charset="-120"/>
              </a:rPr>
              <a:t>One assurance engine. Different ways to use it.</a:t>
            </a:r>
            <a:endParaRPr lang="en-US" sz="2900" dirty="0"/>
          </a:p>
        </p:txBody>
      </p:sp>
      <p:sp>
        <p:nvSpPr>
          <p:cNvPr id="7" name="Text 5"/>
          <p:cNvSpPr/>
          <p:nvPr/>
        </p:nvSpPr>
        <p:spPr>
          <a:xfrm>
            <a:off x="530352" y="1399032"/>
            <a:ext cx="10972800" cy="429768"/>
          </a:xfrm>
          <a:prstGeom prst="rect">
            <a:avLst/>
          </a:prstGeom>
          <a:noFill/>
          <a:ln/>
        </p:spPr>
        <p:txBody>
          <a:bodyPr wrap="square" lIns="0" tIns="0" rIns="0" bIns="0" rtlCol="0" anchor="ctr">
            <a:normAutofit/>
          </a:bodyPr>
          <a:lstStyle/>
          <a:p>
            <a:pPr indent="0" marL="0">
              <a:buNone/>
            </a:pPr>
            <a:r>
              <a:rPr lang="en-US" sz="1500" dirty="0">
                <a:solidFill>
                  <a:srgbClr val="A2B4C9"/>
                </a:solidFill>
                <a:latin typeface="Aptos" pitchFamily="34" charset="0"/>
                <a:ea typeface="Aptos" pitchFamily="34" charset="-122"/>
                <a:cs typeface="Aptos" pitchFamily="34" charset="-120"/>
              </a:rPr>
              <a:t>From a controlled hackathon benchmark to integrations for teams and individuals.</a:t>
            </a:r>
            <a:endParaRPr lang="en-US" sz="1500" dirty="0"/>
          </a:p>
        </p:txBody>
      </p:sp>
      <p:sp>
        <p:nvSpPr>
          <p:cNvPr id="8" name="Shape 6"/>
          <p:cNvSpPr/>
          <p:nvPr/>
        </p:nvSpPr>
        <p:spPr>
          <a:xfrm>
            <a:off x="585216" y="2093976"/>
            <a:ext cx="3621024" cy="2532888"/>
          </a:xfrm>
          <a:prstGeom prst="roundRect">
            <a:avLst>
              <a:gd name="adj" fmla="val 5776"/>
            </a:avLst>
          </a:prstGeom>
          <a:solidFill>
            <a:srgbClr val="121E30"/>
          </a:solidFill>
          <a:ln w="10160">
            <a:solidFill>
              <a:srgbClr val="2C4058"/>
            </a:solidFill>
            <a:prstDash val="solid"/>
          </a:ln>
        </p:spPr>
      </p:sp>
      <p:sp>
        <p:nvSpPr>
          <p:cNvPr id="9" name="Shape 7"/>
          <p:cNvSpPr/>
          <p:nvPr/>
        </p:nvSpPr>
        <p:spPr>
          <a:xfrm>
            <a:off x="786384" y="2340864"/>
            <a:ext cx="1161288" cy="347472"/>
          </a:xfrm>
          <a:prstGeom prst="roundRect">
            <a:avLst>
              <a:gd name="adj" fmla="val 42105"/>
            </a:avLst>
          </a:prstGeom>
          <a:solidFill>
            <a:srgbClr val="19273A"/>
          </a:solidFill>
          <a:ln w="10160">
            <a:solidFill>
              <a:srgbClr val="2C4058"/>
            </a:solidFill>
            <a:prstDash val="solid"/>
          </a:ln>
        </p:spPr>
      </p:sp>
      <p:sp>
        <p:nvSpPr>
          <p:cNvPr id="10" name="Text 8"/>
          <p:cNvSpPr/>
          <p:nvPr/>
        </p:nvSpPr>
        <p:spPr>
          <a:xfrm>
            <a:off x="905256" y="2414016"/>
            <a:ext cx="932688" cy="182880"/>
          </a:xfrm>
          <a:prstGeom prst="rect">
            <a:avLst/>
          </a:prstGeom>
          <a:noFill/>
          <a:ln/>
        </p:spPr>
        <p:txBody>
          <a:bodyPr wrap="square" lIns="0" tIns="0" rIns="0" bIns="0" rtlCol="0" anchor="ctr">
            <a:normAutofit/>
          </a:bodyPr>
          <a:lstStyle/>
          <a:p>
            <a:pPr indent="0" marL="0">
              <a:buNone/>
            </a:pPr>
            <a:r>
              <a:rPr lang="en-US" sz="1020" b="1" spc="65" kern="0" dirty="0">
                <a:solidFill>
                  <a:srgbClr val="51E1C2"/>
                </a:solidFill>
                <a:latin typeface="Aptos" pitchFamily="34" charset="0"/>
                <a:ea typeface="Aptos" pitchFamily="34" charset="-122"/>
                <a:cs typeface="Aptos" pitchFamily="34" charset="-120"/>
              </a:rPr>
              <a:t>TODAY</a:t>
            </a:r>
            <a:endParaRPr lang="en-US" sz="1020" dirty="0"/>
          </a:p>
        </p:txBody>
      </p:sp>
      <p:sp>
        <p:nvSpPr>
          <p:cNvPr id="11" name="Text 9"/>
          <p:cNvSpPr/>
          <p:nvPr/>
        </p:nvSpPr>
        <p:spPr>
          <a:xfrm>
            <a:off x="786384" y="2871216"/>
            <a:ext cx="3200400" cy="475488"/>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Browser prototype</a:t>
            </a:r>
            <a:endParaRPr lang="en-US" sz="2100" dirty="0"/>
          </a:p>
        </p:txBody>
      </p:sp>
      <p:sp>
        <p:nvSpPr>
          <p:cNvPr id="12" name="Text 10"/>
          <p:cNvSpPr/>
          <p:nvPr/>
        </p:nvSpPr>
        <p:spPr>
          <a:xfrm>
            <a:off x="786384" y="3438144"/>
            <a:ext cx="3182112" cy="832104"/>
          </a:xfrm>
          <a:prstGeom prst="rect">
            <a:avLst/>
          </a:prstGeom>
          <a:noFill/>
          <a:ln/>
        </p:spPr>
        <p:txBody>
          <a:bodyPr wrap="square" lIns="0" tIns="0" rIns="0" bIns="0" rtlCol="0" anchor="t">
            <a:normAutofit/>
          </a:bodyPr>
          <a:lstStyle/>
          <a:p>
            <a:pPr indent="0" marL="0">
              <a:buNone/>
            </a:pPr>
            <a:r>
              <a:rPr lang="en-US" sz="1530" dirty="0">
                <a:solidFill>
                  <a:srgbClr val="A2B4C9"/>
                </a:solidFill>
                <a:latin typeface="Aptos" pitchFamily="34" charset="0"/>
                <a:ea typeface="Aptos" pitchFamily="34" charset="-122"/>
                <a:cs typeface="Aptos" pitchFamily="34" charset="-120"/>
              </a:rPr>
              <a:t>Synthetic histories, target questions, actual answers and evidence</a:t>
            </a:r>
            <a:endParaRPr lang="en-US" sz="1530" dirty="0"/>
          </a:p>
        </p:txBody>
      </p:sp>
      <p:sp>
        <p:nvSpPr>
          <p:cNvPr id="13" name="Shape 11"/>
          <p:cNvSpPr/>
          <p:nvPr/>
        </p:nvSpPr>
        <p:spPr>
          <a:xfrm>
            <a:off x="4370832" y="2093976"/>
            <a:ext cx="3621024" cy="2532888"/>
          </a:xfrm>
          <a:prstGeom prst="roundRect">
            <a:avLst>
              <a:gd name="adj" fmla="val 5776"/>
            </a:avLst>
          </a:prstGeom>
          <a:solidFill>
            <a:srgbClr val="121E30"/>
          </a:solidFill>
          <a:ln w="10160">
            <a:solidFill>
              <a:srgbClr val="2C4058"/>
            </a:solidFill>
            <a:prstDash val="solid"/>
          </a:ln>
        </p:spPr>
      </p:sp>
      <p:sp>
        <p:nvSpPr>
          <p:cNvPr id="14" name="Shape 12"/>
          <p:cNvSpPr/>
          <p:nvPr/>
        </p:nvSpPr>
        <p:spPr>
          <a:xfrm>
            <a:off x="4572000" y="2340864"/>
            <a:ext cx="1161288" cy="347472"/>
          </a:xfrm>
          <a:prstGeom prst="roundRect">
            <a:avLst>
              <a:gd name="adj" fmla="val 42105"/>
            </a:avLst>
          </a:prstGeom>
          <a:solidFill>
            <a:srgbClr val="19273A"/>
          </a:solidFill>
          <a:ln w="10160">
            <a:solidFill>
              <a:srgbClr val="2C4058"/>
            </a:solidFill>
            <a:prstDash val="solid"/>
          </a:ln>
        </p:spPr>
      </p:sp>
      <p:sp>
        <p:nvSpPr>
          <p:cNvPr id="15" name="Text 13"/>
          <p:cNvSpPr/>
          <p:nvPr/>
        </p:nvSpPr>
        <p:spPr>
          <a:xfrm>
            <a:off x="4690872" y="2414016"/>
            <a:ext cx="932688" cy="182880"/>
          </a:xfrm>
          <a:prstGeom prst="rect">
            <a:avLst/>
          </a:prstGeom>
          <a:noFill/>
          <a:ln/>
        </p:spPr>
        <p:txBody>
          <a:bodyPr wrap="square" lIns="0" tIns="0" rIns="0" bIns="0" rtlCol="0" anchor="ctr">
            <a:normAutofit/>
          </a:bodyPr>
          <a:lstStyle/>
          <a:p>
            <a:pPr indent="0" marL="0">
              <a:buNone/>
            </a:pPr>
            <a:r>
              <a:rPr lang="en-US" sz="1020" b="1" spc="65" kern="0" dirty="0">
                <a:solidFill>
                  <a:srgbClr val="76ACFF"/>
                </a:solidFill>
                <a:latin typeface="Aptos" pitchFamily="34" charset="0"/>
                <a:ea typeface="Aptos" pitchFamily="34" charset="-122"/>
                <a:cs typeface="Aptos" pitchFamily="34" charset="-120"/>
              </a:rPr>
              <a:t>NEXT</a:t>
            </a:r>
            <a:endParaRPr lang="en-US" sz="1020" dirty="0"/>
          </a:p>
        </p:txBody>
      </p:sp>
      <p:sp>
        <p:nvSpPr>
          <p:cNvPr id="16" name="Text 14"/>
          <p:cNvSpPr/>
          <p:nvPr/>
        </p:nvSpPr>
        <p:spPr>
          <a:xfrm>
            <a:off x="4572000" y="2871216"/>
            <a:ext cx="3200400" cy="475488"/>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Developer integration</a:t>
            </a:r>
            <a:endParaRPr lang="en-US" sz="2100" dirty="0"/>
          </a:p>
        </p:txBody>
      </p:sp>
      <p:sp>
        <p:nvSpPr>
          <p:cNvPr id="17" name="Text 15"/>
          <p:cNvSpPr/>
          <p:nvPr/>
        </p:nvSpPr>
        <p:spPr>
          <a:xfrm>
            <a:off x="4572000" y="3438144"/>
            <a:ext cx="3182112" cy="832104"/>
          </a:xfrm>
          <a:prstGeom prst="rect">
            <a:avLst/>
          </a:prstGeom>
          <a:noFill/>
          <a:ln/>
        </p:spPr>
        <p:txBody>
          <a:bodyPr wrap="square" lIns="0" tIns="0" rIns="0" bIns="0" rtlCol="0" anchor="t">
            <a:normAutofit/>
          </a:bodyPr>
          <a:lstStyle/>
          <a:p>
            <a:pPr indent="0" marL="0">
              <a:buNone/>
            </a:pPr>
            <a:r>
              <a:rPr lang="en-US" sz="1530" dirty="0">
                <a:solidFill>
                  <a:srgbClr val="A2B4C9"/>
                </a:solidFill>
                <a:latin typeface="Aptos" pitchFamily="34" charset="0"/>
                <a:ea typeface="Aptos" pitchFamily="34" charset="-122"/>
                <a:cs typeface="Aptos" pitchFamily="34" charset="-120"/>
              </a:rPr>
              <a:t>Python package / API / CI checks for team-owned AI workflows</a:t>
            </a:r>
            <a:endParaRPr lang="en-US" sz="1530" dirty="0"/>
          </a:p>
        </p:txBody>
      </p:sp>
      <p:sp>
        <p:nvSpPr>
          <p:cNvPr id="18" name="Shape 16"/>
          <p:cNvSpPr/>
          <p:nvPr/>
        </p:nvSpPr>
        <p:spPr>
          <a:xfrm>
            <a:off x="8156448" y="2093976"/>
            <a:ext cx="3621024" cy="2532888"/>
          </a:xfrm>
          <a:prstGeom prst="roundRect">
            <a:avLst>
              <a:gd name="adj" fmla="val 5776"/>
            </a:avLst>
          </a:prstGeom>
          <a:solidFill>
            <a:srgbClr val="121E30"/>
          </a:solidFill>
          <a:ln w="10160">
            <a:solidFill>
              <a:srgbClr val="2C4058"/>
            </a:solidFill>
            <a:prstDash val="solid"/>
          </a:ln>
        </p:spPr>
      </p:sp>
      <p:sp>
        <p:nvSpPr>
          <p:cNvPr id="19" name="Shape 17"/>
          <p:cNvSpPr/>
          <p:nvPr/>
        </p:nvSpPr>
        <p:spPr>
          <a:xfrm>
            <a:off x="8357616" y="2340864"/>
            <a:ext cx="1161288" cy="347472"/>
          </a:xfrm>
          <a:prstGeom prst="roundRect">
            <a:avLst>
              <a:gd name="adj" fmla="val 42105"/>
            </a:avLst>
          </a:prstGeom>
          <a:solidFill>
            <a:srgbClr val="19273A"/>
          </a:solidFill>
          <a:ln w="10160">
            <a:solidFill>
              <a:srgbClr val="2C4058"/>
            </a:solidFill>
            <a:prstDash val="solid"/>
          </a:ln>
        </p:spPr>
      </p:sp>
      <p:sp>
        <p:nvSpPr>
          <p:cNvPr id="20" name="Text 18"/>
          <p:cNvSpPr/>
          <p:nvPr/>
        </p:nvSpPr>
        <p:spPr>
          <a:xfrm>
            <a:off x="8476488" y="2414016"/>
            <a:ext cx="932688" cy="182880"/>
          </a:xfrm>
          <a:prstGeom prst="rect">
            <a:avLst/>
          </a:prstGeom>
          <a:noFill/>
          <a:ln/>
        </p:spPr>
        <p:txBody>
          <a:bodyPr wrap="square" lIns="0" tIns="0" rIns="0" bIns="0" rtlCol="0" anchor="ctr">
            <a:normAutofit/>
          </a:bodyPr>
          <a:lstStyle/>
          <a:p>
            <a:pPr indent="0" marL="0">
              <a:buNone/>
            </a:pPr>
            <a:r>
              <a:rPr lang="en-US" sz="1020" b="1" spc="65" kern="0" dirty="0">
                <a:solidFill>
                  <a:srgbClr val="FFB864"/>
                </a:solidFill>
                <a:latin typeface="Aptos" pitchFamily="34" charset="0"/>
                <a:ea typeface="Aptos" pitchFamily="34" charset="-122"/>
                <a:cs typeface="Aptos" pitchFamily="34" charset="-120"/>
              </a:rPr>
              <a:t>FUTURE</a:t>
            </a:r>
            <a:endParaRPr lang="en-US" sz="1020" dirty="0"/>
          </a:p>
        </p:txBody>
      </p:sp>
      <p:sp>
        <p:nvSpPr>
          <p:cNvPr id="21" name="Text 19"/>
          <p:cNvSpPr/>
          <p:nvPr/>
        </p:nvSpPr>
        <p:spPr>
          <a:xfrm>
            <a:off x="8357616" y="2871216"/>
            <a:ext cx="3200400" cy="475488"/>
          </a:xfrm>
          <a:prstGeom prst="rect">
            <a:avLst/>
          </a:prstGeom>
          <a:noFill/>
          <a:ln/>
        </p:spPr>
        <p:txBody>
          <a:bodyPr wrap="square" lIns="0" tIns="0" rIns="0" bIns="0" rtlCol="0" anchor="ctr">
            <a:normAutofit/>
          </a:bodyPr>
          <a:lstStyle/>
          <a:p>
            <a:pPr indent="0" marL="0">
              <a:buNone/>
            </a:pPr>
            <a:r>
              <a:rPr lang="en-US" sz="2100" b="1" dirty="0">
                <a:solidFill>
                  <a:srgbClr val="F5F8FC"/>
                </a:solidFill>
                <a:latin typeface="Aptos" pitchFamily="34" charset="0"/>
                <a:ea typeface="Aptos" pitchFamily="34" charset="-122"/>
                <a:cs typeface="Aptos" pitchFamily="34" charset="-120"/>
              </a:rPr>
              <a:t>Personal agent check</a:t>
            </a:r>
            <a:endParaRPr lang="en-US" sz="2100" dirty="0"/>
          </a:p>
        </p:txBody>
      </p:sp>
      <p:sp>
        <p:nvSpPr>
          <p:cNvPr id="22" name="Text 20"/>
          <p:cNvSpPr/>
          <p:nvPr/>
        </p:nvSpPr>
        <p:spPr>
          <a:xfrm>
            <a:off x="8357616" y="3438144"/>
            <a:ext cx="3182112" cy="832104"/>
          </a:xfrm>
          <a:prstGeom prst="rect">
            <a:avLst/>
          </a:prstGeom>
          <a:noFill/>
          <a:ln/>
        </p:spPr>
        <p:txBody>
          <a:bodyPr wrap="square" lIns="0" tIns="0" rIns="0" bIns="0" rtlCol="0" anchor="t">
            <a:normAutofit/>
          </a:bodyPr>
          <a:lstStyle/>
          <a:p>
            <a:pPr indent="0" marL="0">
              <a:buNone/>
            </a:pPr>
            <a:r>
              <a:rPr lang="en-US" sz="1530" dirty="0">
                <a:solidFill>
                  <a:srgbClr val="A2B4C9"/>
                </a:solidFill>
                <a:latin typeface="Aptos" pitchFamily="34" charset="0"/>
                <a:ea typeface="Aptos" pitchFamily="34" charset="-122"/>
                <a:cs typeface="Aptos" pitchFamily="34" charset="-120"/>
              </a:rPr>
              <a:t>Opt-in history import and checks for individual AI assistants</a:t>
            </a:r>
            <a:endParaRPr lang="en-US" sz="1530" dirty="0"/>
          </a:p>
        </p:txBody>
      </p:sp>
      <p:sp>
        <p:nvSpPr>
          <p:cNvPr id="23" name="Shape 21"/>
          <p:cNvSpPr/>
          <p:nvPr/>
        </p:nvSpPr>
        <p:spPr>
          <a:xfrm>
            <a:off x="594360" y="5157216"/>
            <a:ext cx="11000232" cy="868680"/>
          </a:xfrm>
          <a:prstGeom prst="roundRect">
            <a:avLst>
              <a:gd name="adj" fmla="val 16842"/>
            </a:avLst>
          </a:prstGeom>
          <a:solidFill>
            <a:srgbClr val="0C534A"/>
          </a:solidFill>
          <a:ln w="10160">
            <a:solidFill>
              <a:srgbClr val="51E1C2"/>
            </a:solidFill>
            <a:prstDash val="solid"/>
          </a:ln>
        </p:spPr>
      </p:sp>
      <p:sp>
        <p:nvSpPr>
          <p:cNvPr id="24" name="Text 22"/>
          <p:cNvSpPr/>
          <p:nvPr/>
        </p:nvSpPr>
        <p:spPr>
          <a:xfrm>
            <a:off x="868680" y="5394960"/>
            <a:ext cx="10424160" cy="393192"/>
          </a:xfrm>
          <a:prstGeom prst="rect">
            <a:avLst/>
          </a:prstGeom>
          <a:noFill/>
          <a:ln/>
        </p:spPr>
        <p:txBody>
          <a:bodyPr wrap="square" lIns="0" tIns="0" rIns="0" bIns="0" rtlCol="0" anchor="ctr">
            <a:normAutofit/>
          </a:bodyPr>
          <a:lstStyle/>
          <a:p>
            <a:pPr algn="ctr" indent="0" marL="0">
              <a:buNone/>
            </a:pPr>
            <a:r>
              <a:rPr lang="en-US" sz="2800" b="1" dirty="0">
                <a:solidFill>
                  <a:srgbClr val="F5F8FC"/>
                </a:solidFill>
                <a:latin typeface="Aptos" pitchFamily="34" charset="0"/>
                <a:ea typeface="Aptos" pitchFamily="34" charset="-122"/>
                <a:cs typeface="Aptos" pitchFamily="34" charset="-120"/>
              </a:rPr>
              <a:t>Test AI memory before decisions depend on it.</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93776" y="228600"/>
            <a:ext cx="10058400" cy="228600"/>
          </a:xfrm>
          <a:prstGeom prst="rect">
            <a:avLst/>
          </a:prstGeom>
          <a:noFill/>
          <a:ln/>
        </p:spPr>
        <p:txBody>
          <a:bodyPr wrap="square" lIns="0" tIns="0" rIns="0" bIns="0" rtlCol="0" anchor="ctr"/>
          <a:lstStyle/>
          <a:p>
            <a:pPr indent="0" marL="0">
              <a:buNone/>
            </a:pPr>
            <a:r>
              <a:rPr lang="en-US" sz="930" b="1" spc="200" kern="0" dirty="0">
                <a:solidFill>
                  <a:srgbClr val="51E1C2"/>
                </a:solidFill>
                <a:latin typeface="Aptos" pitchFamily="34" charset="0"/>
                <a:ea typeface="Aptos" pitchFamily="34" charset="-122"/>
                <a:cs typeface="Aptos" pitchFamily="34" charset="-120"/>
              </a:rPr>
              <a:t>APPENDIX  /  SOURCES &amp; LIMITATIONS — NOT IN LIVE TIMING</a:t>
            </a:r>
            <a:endParaRPr lang="en-US" sz="930" dirty="0"/>
          </a:p>
        </p:txBody>
      </p:sp>
      <p:sp>
        <p:nvSpPr>
          <p:cNvPr id="3" name="Shape 1"/>
          <p:cNvSpPr/>
          <p:nvPr/>
        </p:nvSpPr>
        <p:spPr>
          <a:xfrm>
            <a:off x="493776" y="576072"/>
            <a:ext cx="11201400" cy="0"/>
          </a:xfrm>
          <a:prstGeom prst="line">
            <a:avLst/>
          </a:prstGeom>
          <a:noFill/>
          <a:ln w="12700">
            <a:solidFill>
              <a:srgbClr val="2C4058"/>
            </a:solidFill>
            <a:prstDash val="solid"/>
          </a:ln>
        </p:spPr>
      </p:sp>
      <p:sp>
        <p:nvSpPr>
          <p:cNvPr id="4" name="Text 2"/>
          <p:cNvSpPr/>
          <p:nvPr/>
        </p:nvSpPr>
        <p:spPr>
          <a:xfrm>
            <a:off x="11247120" y="6510528"/>
            <a:ext cx="448056" cy="182880"/>
          </a:xfrm>
          <a:prstGeom prst="rect">
            <a:avLst/>
          </a:prstGeom>
          <a:noFill/>
          <a:ln/>
        </p:spPr>
        <p:txBody>
          <a:bodyPr wrap="square" lIns="0" tIns="0" rIns="0" bIns="0" rtlCol="0" anchor="ctr"/>
          <a:lstStyle/>
          <a:p>
            <a:pPr algn="r" indent="0" marL="0">
              <a:buNone/>
            </a:pPr>
            <a:r>
              <a:rPr lang="en-US" sz="1050" b="1" dirty="0">
                <a:solidFill>
                  <a:srgbClr val="71849C"/>
                </a:solidFill>
                <a:latin typeface="Aptos" pitchFamily="34" charset="0"/>
                <a:ea typeface="Aptos" pitchFamily="34" charset="-122"/>
                <a:cs typeface="Aptos" pitchFamily="34" charset="-120"/>
              </a:rPr>
              <a:t>10</a:t>
            </a:r>
            <a:endParaRPr lang="en-US" sz="1050" dirty="0"/>
          </a:p>
        </p:txBody>
      </p:sp>
      <p:sp>
        <p:nvSpPr>
          <p:cNvPr id="5" name="Text 3"/>
          <p:cNvSpPr/>
          <p:nvPr/>
        </p:nvSpPr>
        <p:spPr>
          <a:xfrm>
            <a:off x="512064" y="6501384"/>
            <a:ext cx="5486400" cy="173736"/>
          </a:xfrm>
          <a:prstGeom prst="rect">
            <a:avLst/>
          </a:prstGeom>
          <a:noFill/>
          <a:ln/>
        </p:spPr>
        <p:txBody>
          <a:bodyPr wrap="square" lIns="0" tIns="0" rIns="0" bIns="0" rtlCol="0" anchor="ctr"/>
          <a:lstStyle/>
          <a:p>
            <a:pPr indent="0" marL="0">
              <a:buNone/>
            </a:pPr>
            <a:r>
              <a:rPr lang="en-US" sz="870" spc="100" kern="0" dirty="0">
                <a:solidFill>
                  <a:srgbClr val="71849C"/>
                </a:solidFill>
                <a:latin typeface="Aptos" pitchFamily="34" charset="0"/>
                <a:ea typeface="Aptos" pitchFamily="34" charset="-122"/>
                <a:cs typeface="Aptos" pitchFamily="34" charset="-120"/>
              </a:rPr>
              <a:t>GOVERNANCE &amp; COMPLIANCE  •  2026</a:t>
            </a:r>
            <a:endParaRPr lang="en-US" sz="870" dirty="0"/>
          </a:p>
        </p:txBody>
      </p:sp>
      <p:sp>
        <p:nvSpPr>
          <p:cNvPr id="6" name="TextBox 5"/>
          <p:cNvSpPr txBox="1"/>
          <p:nvPr/>
        </p:nvSpPr>
        <p:spPr>
          <a:xfrm>
            <a:off x="530352" y="749808"/>
            <a:ext cx="11064240" cy="658368"/>
          </a:xfrm>
          <a:prstGeom prst="rect">
            <a:avLst/>
          </a:prstGeom>
          <a:noFill/>
        </p:spPr>
        <p:txBody>
          <a:bodyPr wrap="square" lIns="0" rIns="0" tIns="0" bIns="0" anchor="t">
            <a:spAutoFit/>
          </a:bodyPr>
          <a:lstStyle/>
          <a:p>
            <a:r>
              <a:rPr sz="2900" b="1">
                <a:solidFill>
                  <a:srgbClr val="F5F8FC"/>
                </a:solidFill>
                <a:latin typeface="Aptos Display"/>
              </a:rPr>
              <a:t>References and scope</a:t>
            </a:r>
          </a:p>
        </p:txBody>
      </p:sp>
      <p:sp>
        <p:nvSpPr>
          <p:cNvPr id="7" name="TextBox 6"/>
          <p:cNvSpPr txBox="1"/>
          <p:nvPr/>
        </p:nvSpPr>
        <p:spPr>
          <a:xfrm>
            <a:off x="530352" y="1399032"/>
            <a:ext cx="10972800" cy="429768"/>
          </a:xfrm>
          <a:prstGeom prst="rect">
            <a:avLst/>
          </a:prstGeom>
          <a:noFill/>
        </p:spPr>
        <p:txBody>
          <a:bodyPr wrap="square" lIns="0" rIns="0" tIns="0" bIns="0" anchor="t">
            <a:spAutoFit/>
          </a:bodyPr>
          <a:lstStyle/>
          <a:p>
            <a:r>
              <a:rPr sz="1500" b="0">
                <a:solidFill>
                  <a:srgbClr val="A2B4C9"/>
                </a:solidFill>
                <a:latin typeface="Aptos"/>
              </a:rPr>
              <a:t>Every figure on the evidence slide, with the document it came from.</a:t>
            </a:r>
          </a:p>
        </p:txBody>
      </p:sp>
      <p:sp>
        <p:nvSpPr>
          <p:cNvPr id="8" name="Rounded Rectangle 7"/>
          <p:cNvSpPr/>
          <p:nvPr/>
        </p:nvSpPr>
        <p:spPr>
          <a:xfrm>
            <a:off x="594360" y="1865376"/>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32104" y="1965960"/>
            <a:ext cx="10113264" cy="237744"/>
          </a:xfrm>
          <a:prstGeom prst="rect">
            <a:avLst/>
          </a:prstGeom>
          <a:noFill/>
        </p:spPr>
        <p:txBody>
          <a:bodyPr wrap="square" lIns="0" rIns="0" tIns="0" bIns="0" anchor="t">
            <a:spAutoFit/>
          </a:bodyPr>
          <a:lstStyle/>
          <a:p>
            <a:r>
              <a:rPr sz="1250" b="1">
                <a:solidFill>
                  <a:srgbClr val="76ACFF"/>
                </a:solidFill>
                <a:latin typeface="Aptos"/>
                <a:hlinkClick r:id="rId1"/>
              </a:rPr>
              <a:t>Moffatt v. Air Canada, 2024 BCCRT 149</a:t>
            </a:r>
          </a:p>
        </p:txBody>
      </p:sp>
      <p:sp>
        <p:nvSpPr>
          <p:cNvPr id="10" name="TextBox 9"/>
          <p:cNvSpPr txBox="1"/>
          <p:nvPr/>
        </p:nvSpPr>
        <p:spPr>
          <a:xfrm>
            <a:off x="841248" y="2267712"/>
            <a:ext cx="10104120" cy="219456"/>
          </a:xfrm>
          <a:prstGeom prst="rect">
            <a:avLst/>
          </a:prstGeom>
          <a:noFill/>
        </p:spPr>
        <p:txBody>
          <a:bodyPr wrap="square" lIns="0" rIns="0" tIns="0" bIns="0" anchor="t">
            <a:spAutoFit/>
          </a:bodyPr>
          <a:lstStyle/>
          <a:p>
            <a:r>
              <a:rPr sz="960" b="0">
                <a:solidFill>
                  <a:srgbClr val="71849C"/>
                </a:solidFill>
                <a:latin typeface="Aptos"/>
              </a:rPr>
              <a:t>Chatbot gave incorrect bereavement-fare advice. The airline’s "separate legal entity" argument was rejected; CAD $650.88 awarded. The cause was never established as a memory failure.</a:t>
            </a:r>
          </a:p>
        </p:txBody>
      </p:sp>
      <p:sp>
        <p:nvSpPr>
          <p:cNvPr id="11" name="Rounded Rectangle 10"/>
          <p:cNvSpPr/>
          <p:nvPr/>
        </p:nvSpPr>
        <p:spPr>
          <a:xfrm>
            <a:off x="594360" y="2651760"/>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2104" y="2752344"/>
            <a:ext cx="10113264" cy="237744"/>
          </a:xfrm>
          <a:prstGeom prst="rect">
            <a:avLst/>
          </a:prstGeom>
          <a:noFill/>
        </p:spPr>
        <p:txBody>
          <a:bodyPr wrap="square" lIns="0" rIns="0" tIns="0" bIns="0" anchor="t">
            <a:spAutoFit/>
          </a:bodyPr>
          <a:lstStyle/>
          <a:p>
            <a:r>
              <a:rPr sz="1250" b="1">
                <a:solidFill>
                  <a:srgbClr val="76ACFF"/>
                </a:solidFill>
                <a:latin typeface="Aptos"/>
                <a:hlinkClick r:id="rId7"/>
              </a:rPr>
              <a:t>Zillow Group Q3 2021 results — Form 8-K, Exhibit 99.1</a:t>
            </a:r>
          </a:p>
        </p:txBody>
      </p:sp>
      <p:sp>
        <p:nvSpPr>
          <p:cNvPr id="13" name="TextBox 12"/>
          <p:cNvSpPr txBox="1"/>
          <p:nvPr/>
        </p:nvSpPr>
        <p:spPr>
          <a:xfrm>
            <a:off x="841248" y="3054096"/>
            <a:ext cx="10104120" cy="219456"/>
          </a:xfrm>
          <a:prstGeom prst="rect">
            <a:avLst/>
          </a:prstGeom>
          <a:noFill/>
        </p:spPr>
        <p:txBody>
          <a:bodyPr wrap="square" lIns="0" rIns="0" tIns="0" bIns="0" anchor="t">
            <a:spAutoFit/>
          </a:bodyPr>
          <a:lstStyle/>
          <a:p>
            <a:r>
              <a:rPr sz="960" b="0">
                <a:solidFill>
                  <a:srgbClr val="71849C"/>
                </a:solidFill>
                <a:latin typeface="Aptos"/>
              </a:rPr>
              <a:t>~$304M inventory write-down in the Homes segment, $240–265M more guided for Q4, ~25% of staff cut. A pricing-model failure, not a memory failure.</a:t>
            </a:r>
          </a:p>
        </p:txBody>
      </p:sp>
      <p:sp>
        <p:nvSpPr>
          <p:cNvPr id="14" name="Rounded Rectangle 13"/>
          <p:cNvSpPr/>
          <p:nvPr/>
        </p:nvSpPr>
        <p:spPr>
          <a:xfrm>
            <a:off x="594360" y="3438144"/>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2104" y="3538727"/>
            <a:ext cx="10113264" cy="237744"/>
          </a:xfrm>
          <a:prstGeom prst="rect">
            <a:avLst/>
          </a:prstGeom>
          <a:noFill/>
        </p:spPr>
        <p:txBody>
          <a:bodyPr wrap="square" lIns="0" rIns="0" tIns="0" bIns="0" anchor="t">
            <a:spAutoFit/>
          </a:bodyPr>
          <a:lstStyle/>
          <a:p>
            <a:r>
              <a:rPr sz="1250" b="1">
                <a:solidFill>
                  <a:srgbClr val="76ACFF"/>
                </a:solidFill>
                <a:latin typeface="Aptos"/>
                <a:hlinkClick r:id="rId8"/>
              </a:rPr>
              <a:t>The Markup / THE CITY — NYC MyCity chatbot (2 April 2024)</a:t>
            </a:r>
          </a:p>
        </p:txBody>
      </p:sp>
      <p:sp>
        <p:nvSpPr>
          <p:cNvPr id="16" name="TextBox 15"/>
          <p:cNvSpPr txBox="1"/>
          <p:nvPr/>
        </p:nvSpPr>
        <p:spPr>
          <a:xfrm>
            <a:off x="841248" y="3840480"/>
            <a:ext cx="10104120" cy="219456"/>
          </a:xfrm>
          <a:prstGeom prst="rect">
            <a:avLst/>
          </a:prstGeom>
          <a:noFill/>
        </p:spPr>
        <p:txBody>
          <a:bodyPr wrap="square" lIns="0" rIns="0" tIns="0" bIns="0" anchor="t">
            <a:spAutoFit/>
          </a:bodyPr>
          <a:lstStyle/>
          <a:p>
            <a:r>
              <a:rPr sz="960" b="0">
                <a:solidFill>
                  <a:srgbClr val="71849C"/>
                </a:solidFill>
                <a:latin typeface="Aptos"/>
              </a:rPr>
              <a:t>City chatbot advised business owners they could take workers’ tips and refuse tenants on rental assistance. It remained publicly accessible after publication.</a:t>
            </a:r>
          </a:p>
        </p:txBody>
      </p:sp>
      <p:sp>
        <p:nvSpPr>
          <p:cNvPr id="17" name="Rounded Rectangle 16"/>
          <p:cNvSpPr/>
          <p:nvPr/>
        </p:nvSpPr>
        <p:spPr>
          <a:xfrm>
            <a:off x="594360" y="4224528"/>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2104" y="4325112"/>
            <a:ext cx="10113264" cy="237744"/>
          </a:xfrm>
          <a:prstGeom prst="rect">
            <a:avLst/>
          </a:prstGeom>
          <a:noFill/>
        </p:spPr>
        <p:txBody>
          <a:bodyPr wrap="square" lIns="0" rIns="0" tIns="0" bIns="0" anchor="t">
            <a:spAutoFit/>
          </a:bodyPr>
          <a:lstStyle/>
          <a:p>
            <a:r>
              <a:rPr sz="1250" b="1">
                <a:solidFill>
                  <a:srgbClr val="76ACFF"/>
                </a:solidFill>
                <a:latin typeface="Aptos"/>
                <a:hlinkClick r:id="rId3"/>
              </a:rPr>
              <a:t>EU AI Act — Article 12</a:t>
            </a:r>
          </a:p>
        </p:txBody>
      </p:sp>
      <p:sp>
        <p:nvSpPr>
          <p:cNvPr id="19" name="TextBox 18"/>
          <p:cNvSpPr txBox="1"/>
          <p:nvPr/>
        </p:nvSpPr>
        <p:spPr>
          <a:xfrm>
            <a:off x="841248" y="4626864"/>
            <a:ext cx="10104120" cy="219456"/>
          </a:xfrm>
          <a:prstGeom prst="rect">
            <a:avLst/>
          </a:prstGeom>
          <a:noFill/>
        </p:spPr>
        <p:txBody>
          <a:bodyPr wrap="square" lIns="0" rIns="0" tIns="0" bIns="0" anchor="t">
            <a:spAutoFit/>
          </a:bodyPr>
          <a:lstStyle/>
          <a:p>
            <a:r>
              <a:rPr sz="960" b="0">
                <a:solidFill>
                  <a:srgbClr val="71849C"/>
                </a:solidFill>
                <a:latin typeface="Aptos"/>
              </a:rPr>
              <a:t>Record-keeping obligations for qualifying high-risk AI. RegWatch produces evidence logs; it confers no automatic compliance.</a:t>
            </a:r>
          </a:p>
        </p:txBody>
      </p:sp>
      <p:sp>
        <p:nvSpPr>
          <p:cNvPr id="20" name="Rounded Rectangle 19"/>
          <p:cNvSpPr/>
          <p:nvPr/>
        </p:nvSpPr>
        <p:spPr>
          <a:xfrm>
            <a:off x="594360" y="5010912"/>
            <a:ext cx="10991088" cy="731520"/>
          </a:xfrm>
          <a:prstGeom prst="roundRect">
            <a:avLst>
              <a:gd name="adj" fmla="val 4188"/>
            </a:avLst>
          </a:prstGeom>
          <a:solidFill>
            <a:srgbClr val="121E30"/>
          </a:solidFill>
          <a:ln w="10160">
            <a:solidFill>
              <a:srgbClr val="2C405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2104" y="5111496"/>
            <a:ext cx="10113264" cy="237744"/>
          </a:xfrm>
          <a:prstGeom prst="rect">
            <a:avLst/>
          </a:prstGeom>
          <a:noFill/>
        </p:spPr>
        <p:txBody>
          <a:bodyPr wrap="square" lIns="0" rIns="0" tIns="0" bIns="0" anchor="t">
            <a:spAutoFit/>
          </a:bodyPr>
          <a:lstStyle/>
          <a:p>
            <a:r>
              <a:rPr sz="1250" b="1">
                <a:solidFill>
                  <a:srgbClr val="76ACFF"/>
                </a:solidFill>
                <a:latin typeface="Aptos"/>
                <a:hlinkClick r:id="rId4"/>
              </a:rPr>
              <a:t>RegWatch repository — logs, answer key and benchmark</a:t>
            </a:r>
          </a:p>
        </p:txBody>
      </p:sp>
      <p:sp>
        <p:nvSpPr>
          <p:cNvPr id="22" name="TextBox 21"/>
          <p:cNvSpPr txBox="1"/>
          <p:nvPr/>
        </p:nvSpPr>
        <p:spPr>
          <a:xfrm>
            <a:off x="841248" y="5413248"/>
            <a:ext cx="10104120" cy="219456"/>
          </a:xfrm>
          <a:prstGeom prst="rect">
            <a:avLst/>
          </a:prstGeom>
          <a:noFill/>
        </p:spPr>
        <p:txBody>
          <a:bodyPr wrap="square" lIns="0" rIns="0" tIns="0" bIns="0" anchor="t">
            <a:spAutoFit/>
          </a:bodyPr>
          <a:lstStyle/>
          <a:p>
            <a:r>
              <a:rPr sz="960" b="0">
                <a:solidFill>
                  <a:srgbClr val="71849C"/>
                </a:solidFill>
                <a:latin typeface="Aptos"/>
              </a:rPr>
              <a:t>Synthetic histories, three memory backends, 300 committed live answers per arm, and the deterministic scorer that produced slide 07.</a:t>
            </a:r>
          </a:p>
        </p:txBody>
      </p:sp>
      <p:sp>
        <p:nvSpPr>
          <p:cNvPr id="23" name="TextBox 22"/>
          <p:cNvSpPr txBox="1"/>
          <p:nvPr/>
        </p:nvSpPr>
        <p:spPr>
          <a:xfrm>
            <a:off x="548640" y="6208776"/>
            <a:ext cx="10972800" cy="228600"/>
          </a:xfrm>
          <a:prstGeom prst="rect">
            <a:avLst/>
          </a:prstGeom>
          <a:noFill/>
        </p:spPr>
        <p:txBody>
          <a:bodyPr wrap="square" lIns="0" rIns="0" tIns="0" bIns="0" anchor="t">
            <a:spAutoFit/>
          </a:bodyPr>
          <a:lstStyle/>
          <a:p>
            <a:r>
              <a:rPr sz="940" b="0">
                <a:solidFill>
                  <a:srgbClr val="71849C"/>
                </a:solidFill>
                <a:latin typeface="Aptos"/>
              </a:rPr>
              <a:t>Slide 03 scenarios are illustrative. RegWatch cannot audit hidden memory inside external AI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Hackathon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RegWatch AI | AI memory assurance for agents, assistants and workflows</dc:title>
  <dc:subject>Synoptix Responsible AI Hackathon — Governance &amp; Compliance</dc:subject>
  <dc:creator>RegWatch AI</dc:creator>
  <cp:lastModifiedBy>RegWatch AI</cp:lastModifiedBy>
  <cp:revision>1</cp:revision>
  <dcterms:created xsi:type="dcterms:W3CDTF">2026-10-24T20:53:44Z</dcterms:created>
  <dcterms:modified xsi:type="dcterms:W3CDTF">2026-10-24T20:53:44Z</dcterms:modified>
</cp:coreProperties>
</file>